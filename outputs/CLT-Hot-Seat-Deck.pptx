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Lightning pitch, 60 to 90 seconds. Open warm: I build the accounting system your business actually needs, and I find out what that is by talking to you first, not by selling you a product off a shelf. Everything runs inside the QuickBooks you already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plainly: every QuickBooks business hits a wall where it needs something QuickBooks can't do. And the fix people fall back on is a spreadsheet that lives or dies on somebody remembering to update it. Reconciliation, close, debt tracking, AR follow-up, consolidation. I see these same jobs over and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one sentence: we find out what's actually broken in your accounting workflow, then we build the system that fixes it, inside the QuickBooks you already run. No fixed product. No list of modules I'm trying to sell. Every job starts with a conversation, we find the real bottleneck, and we build the specific thing that fixes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proof. Kaptain Clean, a real client on a real QuickBooks setup. We took their days-to-get-paid from 52 down to 33. Cut invoice processing time by 84 percent. And freed up more than 65 thousand dollars in working capital that was just stuck. Same books they already had.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who I'm really looking for. Bookkeepers and fractional CFOs feel this exact pain on every single client they manage. When I build a system for their practice, they own it, they run it across their whole book of clients, and they become a referral source. The practice is the buyer. The end client usually never even sees the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line I need you to remember. If you work with, or know, a bookkeeper or fractional CFO here in Charlotte, I would love an introduction this week. That's the whole ask. If you already trust one, they are almost certainly buried in the exact manual work I fix.
LEAVE-BEHIND / INTRO TEMPLATES:
If YOU are a bookkeeper or fractional CFO, text me: "Hi Jonathan, we met at the CLT Entrepreneurs Hot Seat. I run [practice name] here in Charlotte. Would love to hear more about what you're building at LunarLogic. Free this week for 20 minutes?"
Email (Subject: Hot Seat follow-up, let's talk): "Hi Jonathan, I run my own bookkeeping/fractional CFO practice in Charlotte and caught your pitch at the Hot Seat. I manage the books for [number] QuickBooks clients and would like to hear more about what you're building. Free to grab 20 minutes this week? [Name] [Practice name] [Phone / email]"
If you KNOW a bookkeeper or fractional CFO, text them: "Hey [Contact name], met a guy Jonathan at an event tonight who builds custom accounting automation inside QuickBooks, the manual stuff bookkeepers deal with every month, close, reconciliation, AR. Made me think of you. Mind if I connect you two?"
Email intro (double opt-in, Jonathan cc'd, Subject: Introduction: Jonathan Rodriguez, LunarLogic): "Hi [Contact name], Meet Jonathan, he runs LunarLogic here in Charlotte. He builds custom accounting automation inside QuickBooks, things like automated reconciliation, close workbooks, and AR follow-up, the manual work bookkeepers and fractional CFOs end up doing by hand every month. Thought of you because [reason]. Jonathan, meet [Contact name], [their practice / role]. I'll let you two take it from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Making it happen is low friction. Text or email me an intro. Bring them to coffee if that's easier. Or just point them to lunarlogic.ai and let them see the work. My email is jrodriguez@lunarlogic.ai, and the QR code goes straight to the site. Intro templates are on the leave-behind so you don't have to think about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sentence. We find out what's actually broken in your accounting workflow, then we build the system that fixes it, inside the QuickBooks you already run. If you know a bookkeeper or fractional CFO, introduce us.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pic>
        <p:nvPicPr>
          <p:cNvPr id="2" name="Image 0" descr="glow.png">    </p:cNvPr>
          <p:cNvPicPr>
            <a:picLocks noChangeAspect="1"/>
          </p:cNvPicPr>
          <p:nvPr/>
        </p:nvPicPr>
        <p:blipFill>
          <a:blip r:embed="rId1">
            <a:alphaModFix amt="80000"/>
          </a:blip>
          <a:stretch>
            <a:fillRect/>
          </a:stretch>
        </p:blipFill>
        <p:spPr>
          <a:xfrm>
            <a:off x="7589520" y="-2194560"/>
            <a:ext cx="7315200" cy="7315200"/>
          </a:xfrm>
          <a:prstGeom prst="rect">
            <a:avLst/>
          </a:prstGeom>
        </p:spPr>
      </p:pic>
      <p:pic>
        <p:nvPicPr>
          <p:cNvPr id="3" name="Image 1" descr="glow.png">    </p:cNvPr>
          <p:cNvPicPr>
            <a:picLocks noChangeAspect="1"/>
          </p:cNvPicPr>
          <p:nvPr/>
        </p:nvPicPr>
        <p:blipFill>
          <a:blip r:embed="rId2">
            <a:alphaModFix amt="55000"/>
          </a:blip>
          <a:stretch>
            <a:fillRect/>
          </a:stretch>
        </p:blipFill>
        <p:spPr>
          <a:xfrm>
            <a:off x="-2926080" y="3291840"/>
            <a:ext cx="5943600" cy="5943600"/>
          </a:xfrm>
          <a:prstGeom prst="rect">
            <a:avLst/>
          </a:prstGeom>
        </p:spPr>
      </p:pic>
      <p:pic>
        <p:nvPicPr>
          <p:cNvPr id="4" name="Image 2" descr="moon.png">    </p:cNvPr>
          <p:cNvPicPr>
            <a:picLocks noChangeAspect="1"/>
          </p:cNvPicPr>
          <p:nvPr/>
        </p:nvPicPr>
        <p:blipFill>
          <a:blip r:embed="rId3"/>
          <a:stretch>
            <a:fillRect/>
          </a:stretch>
        </p:blipFill>
        <p:spPr>
          <a:xfrm>
            <a:off x="777240" y="597408"/>
            <a:ext cx="502920" cy="502920"/>
          </a:xfrm>
          <a:prstGeom prst="rect">
            <a:avLst/>
          </a:prstGeom>
        </p:spPr>
      </p:pic>
      <p:sp>
        <p:nvSpPr>
          <p:cNvPr id="5" name="Text 0"/>
          <p:cNvSpPr txBox="1"/>
          <p:nvPr/>
        </p:nvSpPr>
        <p:spPr>
          <a:xfrm>
            <a:off x="1420978" y="640080"/>
            <a:ext cx="4572000" cy="609600"/>
          </a:xfrm>
          <a:prstGeom prst="rect">
            <a:avLst/>
          </a:prstGeom>
          <a:noFill/>
          <a:ln/>
        </p:spPr>
        <p:txBody>
          <a:bodyPr wrap="square" lIns="0" tIns="0" rIns="0" bIns="0" rtlCol="0" anchor="ctr"/>
          <a:lstStyle/>
          <a:p>
            <a:pPr algn="l" indent="0" marL="0">
              <a:buNone/>
            </a:pPr>
            <a:r>
              <a:rPr lang="en-US" sz="3000" b="1" dirty="0">
                <a:solidFill>
                  <a:srgbClr val="60A5FA"/>
                </a:solidFill>
                <a:latin typeface="Nunito" pitchFamily="34" charset="0"/>
                <a:ea typeface="Nunito" pitchFamily="34" charset="-122"/>
                <a:cs typeface="Nunito" pitchFamily="34" charset="-120"/>
              </a:rPr>
              <a:t>l</a:t>
            </a:r>
            <a:pPr algn="l" indent="0" marL="0">
              <a:buNone/>
            </a:pPr>
            <a:r>
              <a:rPr lang="en-US" sz="3000" b="1" dirty="0">
                <a:solidFill>
                  <a:srgbClr val="64A2FA"/>
                </a:solidFill>
                <a:latin typeface="Nunito" pitchFamily="34" charset="0"/>
                <a:ea typeface="Nunito" pitchFamily="34" charset="-122"/>
                <a:cs typeface="Nunito" pitchFamily="34" charset="-120"/>
              </a:rPr>
              <a:t>u</a:t>
            </a:r>
            <a:pPr algn="l" indent="0" marL="0">
              <a:buNone/>
            </a:pPr>
            <a:r>
              <a:rPr lang="en-US" sz="3000" b="1" dirty="0">
                <a:solidFill>
                  <a:srgbClr val="679FFA"/>
                </a:solidFill>
                <a:latin typeface="Nunito" pitchFamily="34" charset="0"/>
                <a:ea typeface="Nunito" pitchFamily="34" charset="-122"/>
                <a:cs typeface="Nunito" pitchFamily="34" charset="-120"/>
              </a:rPr>
              <a:t>n</a:t>
            </a:r>
            <a:pPr algn="l" indent="0" marL="0">
              <a:buNone/>
            </a:pPr>
            <a:r>
              <a:rPr lang="en-US" sz="3000" b="1" dirty="0">
                <a:solidFill>
                  <a:srgbClr val="6B9DF9"/>
                </a:solidFill>
                <a:latin typeface="Nunito" pitchFamily="34" charset="0"/>
                <a:ea typeface="Nunito" pitchFamily="34" charset="-122"/>
                <a:cs typeface="Nunito" pitchFamily="34" charset="-120"/>
              </a:rPr>
              <a:t>a</a:t>
            </a:r>
            <a:pPr algn="l" indent="0" marL="0">
              <a:buNone/>
            </a:pPr>
            <a:r>
              <a:rPr lang="en-US" sz="3000" b="1" dirty="0">
                <a:solidFill>
                  <a:srgbClr val="6F9AF9"/>
                </a:solidFill>
                <a:latin typeface="Nunito" pitchFamily="34" charset="0"/>
                <a:ea typeface="Nunito" pitchFamily="34" charset="-122"/>
                <a:cs typeface="Nunito" pitchFamily="34" charset="-120"/>
              </a:rPr>
              <a:t>r</a:t>
            </a:r>
            <a:pPr algn="l" indent="0" marL="0">
              <a:buNone/>
            </a:pPr>
            <a:r>
              <a:rPr lang="en-US" sz="3000" b="1" dirty="0">
                <a:solidFill>
                  <a:srgbClr val="7297F9"/>
                </a:solidFill>
                <a:latin typeface="Nunito" pitchFamily="34" charset="0"/>
                <a:ea typeface="Nunito" pitchFamily="34" charset="-122"/>
                <a:cs typeface="Nunito" pitchFamily="34" charset="-120"/>
              </a:rPr>
              <a:t>l</a:t>
            </a:r>
            <a:pPr algn="l" indent="0" marL="0">
              <a:buNone/>
            </a:pPr>
            <a:r>
              <a:rPr lang="en-US" sz="3000" b="1" dirty="0">
                <a:solidFill>
                  <a:srgbClr val="7694F9"/>
                </a:solidFill>
                <a:latin typeface="Nunito" pitchFamily="34" charset="0"/>
                <a:ea typeface="Nunito" pitchFamily="34" charset="-122"/>
                <a:cs typeface="Nunito" pitchFamily="34" charset="-120"/>
              </a:rPr>
              <a:t>o</a:t>
            </a:r>
            <a:pPr algn="l" indent="0" marL="0">
              <a:buNone/>
            </a:pPr>
            <a:r>
              <a:rPr lang="en-US" sz="3000" b="1" dirty="0">
                <a:solidFill>
                  <a:srgbClr val="7A92F8"/>
                </a:solidFill>
                <a:latin typeface="Nunito" pitchFamily="34" charset="0"/>
                <a:ea typeface="Nunito" pitchFamily="34" charset="-122"/>
                <a:cs typeface="Nunito" pitchFamily="34" charset="-120"/>
              </a:rPr>
              <a:t>g</a:t>
            </a:r>
            <a:pPr algn="l" indent="0" marL="0">
              <a:buNone/>
            </a:pPr>
            <a:r>
              <a:rPr lang="en-US" sz="3000" b="1" dirty="0">
                <a:solidFill>
                  <a:srgbClr val="7D8FF8"/>
                </a:solidFill>
                <a:latin typeface="Nunito" pitchFamily="34" charset="0"/>
                <a:ea typeface="Nunito" pitchFamily="34" charset="-122"/>
                <a:cs typeface="Nunito" pitchFamily="34" charset="-120"/>
              </a:rPr>
              <a:t>i</a:t>
            </a:r>
            <a:pPr algn="l" indent="0" marL="0">
              <a:buNone/>
            </a:pPr>
            <a:r>
              <a:rPr lang="en-US" sz="3000" b="1" dirty="0">
                <a:solidFill>
                  <a:srgbClr val="818CF8"/>
                </a:solidFill>
                <a:latin typeface="Nunito" pitchFamily="34" charset="0"/>
                <a:ea typeface="Nunito" pitchFamily="34" charset="-122"/>
                <a:cs typeface="Nunito" pitchFamily="34" charset="-120"/>
              </a:rPr>
              <a:t>c</a:t>
            </a:r>
            <a:pPr algn="l" indent="0" marL="0">
              <a:buNone/>
            </a:pPr>
            <a:r>
              <a:rPr lang="en-US" sz="3000" dirty="0">
                <a:solidFill>
                  <a:srgbClr val="FFFFFF">
                    <a:alpha val="70000"/>
                  </a:srgbClr>
                </a:solidFill>
                <a:latin typeface="Nunito" pitchFamily="34" charset="0"/>
                <a:ea typeface="Nunito" pitchFamily="34" charset="-122"/>
                <a:cs typeface="Nunito" pitchFamily="34" charset="-120"/>
              </a:rPr>
              <a:t>.ai</a:t>
            </a:r>
            <a:endParaRPr lang="en-US" sz="3000" dirty="0"/>
          </a:p>
        </p:txBody>
      </p:sp>
      <p:sp>
        <p:nvSpPr>
          <p:cNvPr id="6" name="Text 1"/>
          <p:cNvSpPr txBox="1"/>
          <p:nvPr/>
        </p:nvSpPr>
        <p:spPr>
          <a:xfrm>
            <a:off x="777240" y="2148840"/>
            <a:ext cx="10241280" cy="1463040"/>
          </a:xfrm>
          <a:prstGeom prst="rect">
            <a:avLst/>
          </a:prstGeom>
          <a:noFill/>
          <a:ln/>
        </p:spPr>
        <p:txBody>
          <a:bodyPr wrap="square" lIns="0" tIns="0" rIns="0" bIns="0" rtlCol="0" anchor="t"/>
          <a:lstStyle/>
          <a:p>
            <a:pPr algn="l" indent="0" marL="0">
              <a:lnSpc>
                <a:spcPct val="102000"/>
              </a:lnSpc>
              <a:buNone/>
            </a:pPr>
            <a:r>
              <a:rPr lang="en-US" sz="4400" b="1" dirty="0">
                <a:solidFill>
                  <a:srgbClr val="FFFFFF"/>
                </a:solidFill>
                <a:latin typeface="Fraunces" pitchFamily="34" charset="0"/>
                <a:ea typeface="Fraunces" pitchFamily="34" charset="-122"/>
                <a:cs typeface="Fraunces" pitchFamily="34" charset="-120"/>
              </a:rPr>
              <a:t>We build the accounting system your business needs.</a:t>
            </a:r>
            <a:endParaRPr lang="en-US" sz="4400" dirty="0"/>
          </a:p>
        </p:txBody>
      </p:sp>
      <p:sp>
        <p:nvSpPr>
          <p:cNvPr id="7" name="Text 2"/>
          <p:cNvSpPr txBox="1"/>
          <p:nvPr/>
        </p:nvSpPr>
        <p:spPr>
          <a:xfrm>
            <a:off x="795528" y="3611880"/>
            <a:ext cx="10058400" cy="822960"/>
          </a:xfrm>
          <a:prstGeom prst="rect">
            <a:avLst/>
          </a:prstGeom>
          <a:noFill/>
          <a:ln/>
        </p:spPr>
        <p:txBody>
          <a:bodyPr wrap="square" lIns="0" tIns="0" rIns="0" bIns="0" rtlCol="0" anchor="t"/>
          <a:lstStyle/>
          <a:p>
            <a:pPr algn="l" indent="0" marL="0">
              <a:buNone/>
            </a:pPr>
            <a:r>
              <a:rPr lang="en-US" sz="2600" dirty="0">
                <a:solidFill>
                  <a:srgbClr val="CBD5E1"/>
                </a:solidFill>
                <a:latin typeface="Fraunces" pitchFamily="34" charset="0"/>
                <a:ea typeface="Fraunces" pitchFamily="34" charset="-122"/>
                <a:cs typeface="Fraunces" pitchFamily="34" charset="-120"/>
              </a:rPr>
              <a:t>Discovered through real conversation, </a:t>
            </a:r>
            <a:pPr algn="l" indent="0" marL="0">
              <a:buNone/>
            </a:pPr>
            <a:r>
              <a:rPr lang="en-US" sz="2600" i="1" dirty="0">
                <a:solidFill>
                  <a:srgbClr val="60A5FA"/>
                </a:solidFill>
                <a:latin typeface="Fraunces" pitchFamily="34" charset="0"/>
                <a:ea typeface="Fraunces" pitchFamily="34" charset="-122"/>
                <a:cs typeface="Fraunces" pitchFamily="34" charset="-120"/>
              </a:rPr>
              <a:t>not sold off a shelf.</a:t>
            </a:r>
            <a:endParaRPr lang="en-US" sz="2600" dirty="0"/>
          </a:p>
        </p:txBody>
      </p:sp>
      <p:sp>
        <p:nvSpPr>
          <p:cNvPr id="8" name="Text 3"/>
          <p:cNvSpPr txBox="1"/>
          <p:nvPr/>
        </p:nvSpPr>
        <p:spPr>
          <a:xfrm>
            <a:off x="795528" y="5806440"/>
            <a:ext cx="10058400"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Nunito" pitchFamily="34" charset="0"/>
                <a:ea typeface="Nunito" pitchFamily="34" charset="-122"/>
                <a:cs typeface="Nunito" pitchFamily="34" charset="-120"/>
              </a:rPr>
              <a:t>Jonathan Rodriguez</a:t>
            </a:r>
            <a:pPr algn="l" indent="0" marL="0">
              <a:buNone/>
            </a:pPr>
            <a:r>
              <a:rPr lang="en-US" sz="1600" dirty="0">
                <a:solidFill>
                  <a:srgbClr val="94A3B8"/>
                </a:solidFill>
                <a:latin typeface="Nunito" pitchFamily="34" charset="0"/>
                <a:ea typeface="Nunito" pitchFamily="34" charset="-122"/>
                <a:cs typeface="Nunito" pitchFamily="34" charset="-120"/>
              </a:rPr>
              <a:t>   Founder &amp; CEO, LunarLogic Solutions LLC</a:t>
            </a:r>
            <a:endParaRPr lang="en-US" sz="1600" dirty="0"/>
          </a:p>
        </p:txBody>
      </p:sp>
      <p:sp>
        <p:nvSpPr>
          <p:cNvPr id="9" name="Text 4"/>
          <p:cNvSpPr txBox="1"/>
          <p:nvPr/>
        </p:nvSpPr>
        <p:spPr>
          <a:xfrm>
            <a:off x="795528" y="6199632"/>
            <a:ext cx="10058400" cy="320040"/>
          </a:xfrm>
          <a:prstGeom prst="rect">
            <a:avLst/>
          </a:prstGeom>
          <a:noFill/>
          <a:ln/>
        </p:spPr>
        <p:txBody>
          <a:bodyPr wrap="square" lIns="0" tIns="0" rIns="0" bIns="0" rtlCol="0" anchor="ctr"/>
          <a:lstStyle/>
          <a:p>
            <a:pPr algn="l" indent="0" marL="0">
              <a:buNone/>
            </a:pPr>
            <a:r>
              <a:rPr lang="en-US" sz="1400" dirty="0">
                <a:solidFill>
                  <a:srgbClr val="64748B"/>
                </a:solidFill>
                <a:latin typeface="Nunito" pitchFamily="34" charset="0"/>
                <a:ea typeface="Nunito" pitchFamily="34" charset="-122"/>
                <a:cs typeface="Nunito" pitchFamily="34" charset="-120"/>
              </a:rPr>
              <a:t>Charlotte, NC</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777240" y="685800"/>
            <a:ext cx="5486400" cy="320040"/>
          </a:xfrm>
          <a:prstGeom prst="rect">
            <a:avLst/>
          </a:prstGeom>
          <a:noFill/>
          <a:ln/>
        </p:spPr>
        <p:txBody>
          <a:bodyPr wrap="square" lIns="0" tIns="0" rIns="0" bIns="0" rtlCol="0" anchor="ctr"/>
          <a:lstStyle/>
          <a:p>
            <a:pPr algn="l" indent="0" marL="0">
              <a:buNone/>
            </a:pPr>
            <a:r>
              <a:rPr lang="en-US" sz="1300" b="1" spc="300" kern="0" dirty="0">
                <a:solidFill>
                  <a:srgbClr val="60A5FA"/>
                </a:solidFill>
                <a:latin typeface="Nunito" pitchFamily="34" charset="0"/>
                <a:ea typeface="Nunito" pitchFamily="34" charset="-122"/>
                <a:cs typeface="Nunito" pitchFamily="34" charset="-120"/>
              </a:rPr>
              <a:t>THE PROBLEM</a:t>
            </a:r>
            <a:endParaRPr lang="en-US" sz="1300" dirty="0"/>
          </a:p>
        </p:txBody>
      </p:sp>
      <p:sp>
        <p:nvSpPr>
          <p:cNvPr id="3" name="Text 1"/>
          <p:cNvSpPr txBox="1"/>
          <p:nvPr/>
        </p:nvSpPr>
        <p:spPr>
          <a:xfrm>
            <a:off x="777240" y="1234440"/>
            <a:ext cx="10607040" cy="1828800"/>
          </a:xfrm>
          <a:prstGeom prst="rect">
            <a:avLst/>
          </a:prstGeom>
          <a:noFill/>
          <a:ln/>
        </p:spPr>
        <p:txBody>
          <a:bodyPr wrap="square" lIns="0" tIns="0" rIns="0" bIns="0" rtlCol="0" anchor="t"/>
          <a:lstStyle/>
          <a:p>
            <a:pPr algn="l" indent="0" marL="0">
              <a:lnSpc>
                <a:spcPct val="105000"/>
              </a:lnSpc>
              <a:buNone/>
            </a:pPr>
            <a:r>
              <a:rPr lang="en-US" sz="4000" b="1" dirty="0">
                <a:solidFill>
                  <a:srgbClr val="FFFFFF"/>
                </a:solidFill>
                <a:latin typeface="Fraunces" pitchFamily="34" charset="0"/>
                <a:ea typeface="Fraunces" pitchFamily="34" charset="-122"/>
                <a:cs typeface="Fraunces" pitchFamily="34" charset="-120"/>
              </a:rPr>
              <a:t>Every business on QuickBooks eventually needs something </a:t>
            </a:r>
            <a:pPr algn="l" indent="0" marL="0">
              <a:lnSpc>
                <a:spcPct val="105000"/>
              </a:lnSpc>
              <a:buNone/>
            </a:pPr>
            <a:r>
              <a:rPr lang="en-US" sz="4000" b="1" dirty="0">
                <a:solidFill>
                  <a:srgbClr val="60A5FA"/>
                </a:solidFill>
                <a:latin typeface="Fraunces" pitchFamily="34" charset="0"/>
                <a:ea typeface="Fraunces" pitchFamily="34" charset="-122"/>
                <a:cs typeface="Fraunces" pitchFamily="34" charset="-120"/>
              </a:rPr>
              <a:t>QuickBooks was never built to do.</a:t>
            </a:r>
            <a:endParaRPr lang="en-US" sz="4000" dirty="0"/>
          </a:p>
        </p:txBody>
      </p:sp>
      <p:sp>
        <p:nvSpPr>
          <p:cNvPr id="4" name="Text 2"/>
          <p:cNvSpPr txBox="1"/>
          <p:nvPr/>
        </p:nvSpPr>
        <p:spPr>
          <a:xfrm>
            <a:off x="795528" y="3246120"/>
            <a:ext cx="9875520" cy="822960"/>
          </a:xfrm>
          <a:prstGeom prst="rect">
            <a:avLst/>
          </a:prstGeom>
          <a:noFill/>
          <a:ln/>
        </p:spPr>
        <p:txBody>
          <a:bodyPr wrap="square" lIns="0" tIns="0" rIns="0" bIns="0" rtlCol="0" anchor="t"/>
          <a:lstStyle/>
          <a:p>
            <a:pPr algn="l" indent="0" marL="0">
              <a:lnSpc>
                <a:spcPct val="115000"/>
              </a:lnSpc>
              <a:buNone/>
            </a:pPr>
            <a:r>
              <a:rPr lang="en-US" sz="2000" dirty="0">
                <a:solidFill>
                  <a:srgbClr val="CBD5E1"/>
                </a:solidFill>
                <a:latin typeface="Nunito" pitchFamily="34" charset="0"/>
                <a:ea typeface="Nunito" pitchFamily="34" charset="-122"/>
                <a:cs typeface="Nunito" pitchFamily="34" charset="-120"/>
              </a:rPr>
              <a:t>Right now the only fix is a spreadsheet and someone remembering to update it every month.</a:t>
            </a:r>
            <a:endParaRPr lang="en-US" sz="2000" dirty="0"/>
          </a:p>
        </p:txBody>
      </p:sp>
      <p:sp>
        <p:nvSpPr>
          <p:cNvPr id="5" name="Text 3"/>
          <p:cNvSpPr txBox="1"/>
          <p:nvPr/>
        </p:nvSpPr>
        <p:spPr>
          <a:xfrm>
            <a:off x="795528" y="4343400"/>
            <a:ext cx="9144000" cy="365760"/>
          </a:xfrm>
          <a:prstGeom prst="rect">
            <a:avLst/>
          </a:prstGeom>
          <a:noFill/>
          <a:ln/>
        </p:spPr>
        <p:txBody>
          <a:bodyPr wrap="square" lIns="0" tIns="0" rIns="0" bIns="0" rtlCol="0" anchor="ctr"/>
          <a:lstStyle/>
          <a:p>
            <a:pPr algn="l" indent="0" marL="0">
              <a:buNone/>
            </a:pPr>
            <a:r>
              <a:rPr lang="en-US" sz="1400" b="1" spc="100" kern="0" dirty="0">
                <a:solidFill>
                  <a:srgbClr val="64748B"/>
                </a:solidFill>
                <a:latin typeface="Nunito" pitchFamily="34" charset="0"/>
                <a:ea typeface="Nunito" pitchFamily="34" charset="-122"/>
                <a:cs typeface="Nunito" pitchFamily="34" charset="-120"/>
              </a:rPr>
              <a:t>The same patterns, over and over:</a:t>
            </a:r>
            <a:endParaRPr lang="en-US" sz="1400" dirty="0"/>
          </a:p>
        </p:txBody>
      </p:sp>
      <p:sp>
        <p:nvSpPr>
          <p:cNvPr id="6" name="Shape 4"/>
          <p:cNvSpPr/>
          <p:nvPr/>
        </p:nvSpPr>
        <p:spPr>
          <a:xfrm>
            <a:off x="795528" y="4892040"/>
            <a:ext cx="1865376" cy="566928"/>
          </a:xfrm>
          <a:prstGeom prst="roundRect">
            <a:avLst>
              <a:gd name="adj" fmla="val 50000"/>
            </a:avLst>
          </a:prstGeom>
          <a:solidFill>
            <a:srgbClr val="1E293B">
              <a:alpha val="60000"/>
            </a:srgbClr>
          </a:solidFill>
          <a:ln w="12700">
            <a:solidFill>
              <a:srgbClr val="334155"/>
            </a:solidFill>
            <a:prstDash val="solid"/>
          </a:ln>
        </p:spPr>
      </p:sp>
      <p:sp>
        <p:nvSpPr>
          <p:cNvPr id="7" name="Text 5"/>
          <p:cNvSpPr txBox="1"/>
          <p:nvPr/>
        </p:nvSpPr>
        <p:spPr>
          <a:xfrm>
            <a:off x="795528" y="4892040"/>
            <a:ext cx="1865376" cy="566928"/>
          </a:xfrm>
          <a:prstGeom prst="rect">
            <a:avLst/>
          </a:prstGeom>
          <a:noFill/>
          <a:ln/>
        </p:spPr>
        <p:txBody>
          <a:bodyPr wrap="square" lIns="0" tIns="0" rIns="0" bIns="0" rtlCol="0" anchor="ctr"/>
          <a:lstStyle/>
          <a:p>
            <a:pPr algn="ctr" indent="0" marL="0">
              <a:buNone/>
            </a:pPr>
            <a:r>
              <a:rPr lang="en-US" sz="1500" b="1" dirty="0">
                <a:solidFill>
                  <a:srgbClr val="CBD5E1"/>
                </a:solidFill>
                <a:latin typeface="Nunito" pitchFamily="34" charset="0"/>
                <a:ea typeface="Nunito" pitchFamily="34" charset="-122"/>
                <a:cs typeface="Nunito" pitchFamily="34" charset="-120"/>
              </a:rPr>
              <a:t>Reconciliation</a:t>
            </a:r>
            <a:endParaRPr lang="en-US" sz="1500" dirty="0"/>
          </a:p>
        </p:txBody>
      </p:sp>
      <p:sp>
        <p:nvSpPr>
          <p:cNvPr id="8" name="Shape 6"/>
          <p:cNvSpPr/>
          <p:nvPr/>
        </p:nvSpPr>
        <p:spPr>
          <a:xfrm>
            <a:off x="2825496" y="4892040"/>
            <a:ext cx="1965960" cy="566928"/>
          </a:xfrm>
          <a:prstGeom prst="roundRect">
            <a:avLst>
              <a:gd name="adj" fmla="val 50000"/>
            </a:avLst>
          </a:prstGeom>
          <a:solidFill>
            <a:srgbClr val="1E293B">
              <a:alpha val="60000"/>
            </a:srgbClr>
          </a:solidFill>
          <a:ln w="12700">
            <a:solidFill>
              <a:srgbClr val="334155"/>
            </a:solidFill>
            <a:prstDash val="solid"/>
          </a:ln>
        </p:spPr>
      </p:sp>
      <p:sp>
        <p:nvSpPr>
          <p:cNvPr id="9" name="Text 7"/>
          <p:cNvSpPr txBox="1"/>
          <p:nvPr/>
        </p:nvSpPr>
        <p:spPr>
          <a:xfrm>
            <a:off x="2825496" y="4892040"/>
            <a:ext cx="1965960" cy="566928"/>
          </a:xfrm>
          <a:prstGeom prst="rect">
            <a:avLst/>
          </a:prstGeom>
          <a:noFill/>
          <a:ln/>
        </p:spPr>
        <p:txBody>
          <a:bodyPr wrap="square" lIns="0" tIns="0" rIns="0" bIns="0" rtlCol="0" anchor="ctr"/>
          <a:lstStyle/>
          <a:p>
            <a:pPr algn="ctr" indent="0" marL="0">
              <a:buNone/>
            </a:pPr>
            <a:r>
              <a:rPr lang="en-US" sz="1500" b="1" dirty="0">
                <a:solidFill>
                  <a:srgbClr val="CBD5E1"/>
                </a:solidFill>
                <a:latin typeface="Nunito" pitchFamily="34" charset="0"/>
                <a:ea typeface="Nunito" pitchFamily="34" charset="-122"/>
                <a:cs typeface="Nunito" pitchFamily="34" charset="-120"/>
              </a:rPr>
              <a:t>Month-end close</a:t>
            </a:r>
            <a:endParaRPr lang="en-US" sz="1500" dirty="0"/>
          </a:p>
        </p:txBody>
      </p:sp>
      <p:sp>
        <p:nvSpPr>
          <p:cNvPr id="10" name="Shape 8"/>
          <p:cNvSpPr/>
          <p:nvPr/>
        </p:nvSpPr>
        <p:spPr>
          <a:xfrm>
            <a:off x="4956048" y="4892040"/>
            <a:ext cx="1764792" cy="566928"/>
          </a:xfrm>
          <a:prstGeom prst="roundRect">
            <a:avLst>
              <a:gd name="adj" fmla="val 50000"/>
            </a:avLst>
          </a:prstGeom>
          <a:solidFill>
            <a:srgbClr val="1E293B">
              <a:alpha val="60000"/>
            </a:srgbClr>
          </a:solidFill>
          <a:ln w="12700">
            <a:solidFill>
              <a:srgbClr val="334155"/>
            </a:solidFill>
            <a:prstDash val="solid"/>
          </a:ln>
        </p:spPr>
      </p:sp>
      <p:sp>
        <p:nvSpPr>
          <p:cNvPr id="11" name="Text 9"/>
          <p:cNvSpPr txBox="1"/>
          <p:nvPr/>
        </p:nvSpPr>
        <p:spPr>
          <a:xfrm>
            <a:off x="4956048" y="4892040"/>
            <a:ext cx="1764792" cy="566928"/>
          </a:xfrm>
          <a:prstGeom prst="rect">
            <a:avLst/>
          </a:prstGeom>
          <a:noFill/>
          <a:ln/>
        </p:spPr>
        <p:txBody>
          <a:bodyPr wrap="square" lIns="0" tIns="0" rIns="0" bIns="0" rtlCol="0" anchor="ctr"/>
          <a:lstStyle/>
          <a:p>
            <a:pPr algn="ctr" indent="0" marL="0">
              <a:buNone/>
            </a:pPr>
            <a:r>
              <a:rPr lang="en-US" sz="1500" b="1" dirty="0">
                <a:solidFill>
                  <a:srgbClr val="CBD5E1"/>
                </a:solidFill>
                <a:latin typeface="Nunito" pitchFamily="34" charset="0"/>
                <a:ea typeface="Nunito" pitchFamily="34" charset="-122"/>
                <a:cs typeface="Nunito" pitchFamily="34" charset="-120"/>
              </a:rPr>
              <a:t>Debt tracking</a:t>
            </a:r>
            <a:endParaRPr lang="en-US" sz="1500" dirty="0"/>
          </a:p>
        </p:txBody>
      </p:sp>
      <p:sp>
        <p:nvSpPr>
          <p:cNvPr id="12" name="Shape 10"/>
          <p:cNvSpPr/>
          <p:nvPr/>
        </p:nvSpPr>
        <p:spPr>
          <a:xfrm>
            <a:off x="6885432" y="4892040"/>
            <a:ext cx="1664208" cy="566928"/>
          </a:xfrm>
          <a:prstGeom prst="roundRect">
            <a:avLst>
              <a:gd name="adj" fmla="val 50000"/>
            </a:avLst>
          </a:prstGeom>
          <a:solidFill>
            <a:srgbClr val="1E293B">
              <a:alpha val="60000"/>
            </a:srgbClr>
          </a:solidFill>
          <a:ln w="12700">
            <a:solidFill>
              <a:srgbClr val="334155"/>
            </a:solidFill>
            <a:prstDash val="solid"/>
          </a:ln>
        </p:spPr>
      </p:sp>
      <p:sp>
        <p:nvSpPr>
          <p:cNvPr id="13" name="Text 11"/>
          <p:cNvSpPr txBox="1"/>
          <p:nvPr/>
        </p:nvSpPr>
        <p:spPr>
          <a:xfrm>
            <a:off x="6885432" y="4892040"/>
            <a:ext cx="1664208" cy="566928"/>
          </a:xfrm>
          <a:prstGeom prst="rect">
            <a:avLst/>
          </a:prstGeom>
          <a:noFill/>
          <a:ln/>
        </p:spPr>
        <p:txBody>
          <a:bodyPr wrap="square" lIns="0" tIns="0" rIns="0" bIns="0" rtlCol="0" anchor="ctr"/>
          <a:lstStyle/>
          <a:p>
            <a:pPr algn="ctr" indent="0" marL="0">
              <a:buNone/>
            </a:pPr>
            <a:r>
              <a:rPr lang="en-US" sz="1500" b="1" dirty="0">
                <a:solidFill>
                  <a:srgbClr val="CBD5E1"/>
                </a:solidFill>
                <a:latin typeface="Nunito" pitchFamily="34" charset="0"/>
                <a:ea typeface="Nunito" pitchFamily="34" charset="-122"/>
                <a:cs typeface="Nunito" pitchFamily="34" charset="-120"/>
              </a:rPr>
              <a:t>AR follow-up</a:t>
            </a:r>
            <a:endParaRPr lang="en-US" sz="1500" dirty="0"/>
          </a:p>
        </p:txBody>
      </p:sp>
      <p:sp>
        <p:nvSpPr>
          <p:cNvPr id="14" name="Shape 12"/>
          <p:cNvSpPr/>
          <p:nvPr/>
        </p:nvSpPr>
        <p:spPr>
          <a:xfrm>
            <a:off x="8714232" y="4892040"/>
            <a:ext cx="1764792" cy="566928"/>
          </a:xfrm>
          <a:prstGeom prst="roundRect">
            <a:avLst>
              <a:gd name="adj" fmla="val 50000"/>
            </a:avLst>
          </a:prstGeom>
          <a:solidFill>
            <a:srgbClr val="1E293B">
              <a:alpha val="60000"/>
            </a:srgbClr>
          </a:solidFill>
          <a:ln w="12700">
            <a:solidFill>
              <a:srgbClr val="334155"/>
            </a:solidFill>
            <a:prstDash val="solid"/>
          </a:ln>
        </p:spPr>
      </p:sp>
      <p:sp>
        <p:nvSpPr>
          <p:cNvPr id="15" name="Text 13"/>
          <p:cNvSpPr txBox="1"/>
          <p:nvPr/>
        </p:nvSpPr>
        <p:spPr>
          <a:xfrm>
            <a:off x="8714232" y="4892040"/>
            <a:ext cx="1764792" cy="566928"/>
          </a:xfrm>
          <a:prstGeom prst="rect">
            <a:avLst/>
          </a:prstGeom>
          <a:noFill/>
          <a:ln/>
        </p:spPr>
        <p:txBody>
          <a:bodyPr wrap="square" lIns="0" tIns="0" rIns="0" bIns="0" rtlCol="0" anchor="ctr"/>
          <a:lstStyle/>
          <a:p>
            <a:pPr algn="ctr" indent="0" marL="0">
              <a:buNone/>
            </a:pPr>
            <a:r>
              <a:rPr lang="en-US" sz="1500" b="1" dirty="0">
                <a:solidFill>
                  <a:srgbClr val="CBD5E1"/>
                </a:solidFill>
                <a:latin typeface="Nunito" pitchFamily="34" charset="0"/>
                <a:ea typeface="Nunito" pitchFamily="34" charset="-122"/>
                <a:cs typeface="Nunito" pitchFamily="34" charset="-120"/>
              </a:rPr>
              <a:t>Consolidation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777240" y="685800"/>
            <a:ext cx="7315200" cy="320040"/>
          </a:xfrm>
          <a:prstGeom prst="rect">
            <a:avLst/>
          </a:prstGeom>
          <a:noFill/>
          <a:ln/>
        </p:spPr>
        <p:txBody>
          <a:bodyPr wrap="square" lIns="0" tIns="0" rIns="0" bIns="0" rtlCol="0" anchor="ctr"/>
          <a:lstStyle/>
          <a:p>
            <a:pPr algn="l" indent="0" marL="0">
              <a:buNone/>
            </a:pPr>
            <a:r>
              <a:rPr lang="en-US" sz="1300" b="1" spc="300" kern="0" dirty="0">
                <a:solidFill>
                  <a:srgbClr val="60A5FA"/>
                </a:solidFill>
                <a:latin typeface="Nunito" pitchFamily="34" charset="0"/>
                <a:ea typeface="Nunito" pitchFamily="34" charset="-122"/>
                <a:cs typeface="Nunito" pitchFamily="34" charset="-120"/>
              </a:rPr>
              <a:t>WHAT LUNARLOGIC DOES</a:t>
            </a:r>
            <a:endParaRPr lang="en-US" sz="1300" dirty="0"/>
          </a:p>
        </p:txBody>
      </p:sp>
      <p:sp>
        <p:nvSpPr>
          <p:cNvPr id="3" name="Text 1"/>
          <p:cNvSpPr txBox="1"/>
          <p:nvPr/>
        </p:nvSpPr>
        <p:spPr>
          <a:xfrm>
            <a:off x="777240" y="1280160"/>
            <a:ext cx="10607040" cy="237744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Fraunces" pitchFamily="34" charset="0"/>
                <a:ea typeface="Fraunces" pitchFamily="34" charset="-122"/>
                <a:cs typeface="Fraunces" pitchFamily="34" charset="-120"/>
              </a:rPr>
              <a:t>We find out what's actually broken in your accounting workflow, then we build the system that fixes it, </a:t>
            </a:r>
            <a:pPr algn="l" indent="0" marL="0">
              <a:lnSpc>
                <a:spcPct val="108000"/>
              </a:lnSpc>
              <a:buNone/>
            </a:pPr>
            <a:r>
              <a:rPr lang="en-US" sz="3400" b="1" dirty="0">
                <a:solidFill>
                  <a:srgbClr val="60A5FA"/>
                </a:solidFill>
                <a:latin typeface="Fraunces" pitchFamily="34" charset="0"/>
                <a:ea typeface="Fraunces" pitchFamily="34" charset="-122"/>
                <a:cs typeface="Fraunces" pitchFamily="34" charset="-120"/>
              </a:rPr>
              <a:t>inside the QuickBooks you already run.</a:t>
            </a:r>
            <a:endParaRPr lang="en-US" sz="3400" dirty="0"/>
          </a:p>
        </p:txBody>
      </p:sp>
      <p:sp>
        <p:nvSpPr>
          <p:cNvPr id="4" name="Shape 2"/>
          <p:cNvSpPr/>
          <p:nvPr/>
        </p:nvSpPr>
        <p:spPr>
          <a:xfrm>
            <a:off x="777240" y="3977640"/>
            <a:ext cx="3291840" cy="2148840"/>
          </a:xfrm>
          <a:prstGeom prst="roundRect">
            <a:avLst>
              <a:gd name="adj" fmla="val 5106"/>
            </a:avLst>
          </a:prstGeom>
          <a:solidFill>
            <a:srgbClr val="1E293B">
              <a:alpha val="45000"/>
            </a:srgbClr>
          </a:solidFill>
          <a:ln w="12700">
            <a:solidFill>
              <a:srgbClr val="334155"/>
            </a:solidFill>
            <a:prstDash val="solid"/>
          </a:ln>
        </p:spPr>
      </p:sp>
      <p:sp>
        <p:nvSpPr>
          <p:cNvPr id="5" name="Shape 3"/>
          <p:cNvSpPr/>
          <p:nvPr/>
        </p:nvSpPr>
        <p:spPr>
          <a:xfrm>
            <a:off x="1097280" y="4297680"/>
            <a:ext cx="566928" cy="566928"/>
          </a:xfrm>
          <a:prstGeom prst="ellipse">
            <a:avLst/>
          </a:prstGeom>
          <a:solidFill>
            <a:srgbClr val="3B82F6">
              <a:alpha val="85000"/>
            </a:srgbClr>
          </a:solidFill>
          <a:ln w="12700">
            <a:solidFill>
              <a:srgbClr val="60A5FA"/>
            </a:solidFill>
            <a:prstDash val="solid"/>
          </a:ln>
        </p:spPr>
      </p:sp>
      <p:sp>
        <p:nvSpPr>
          <p:cNvPr id="6" name="Text 4"/>
          <p:cNvSpPr txBox="1"/>
          <p:nvPr/>
        </p:nvSpPr>
        <p:spPr>
          <a:xfrm>
            <a:off x="1097280" y="429768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Fraunces" pitchFamily="34" charset="0"/>
                <a:ea typeface="Fraunces" pitchFamily="34" charset="-122"/>
                <a:cs typeface="Fraunces" pitchFamily="34" charset="-120"/>
              </a:rPr>
              <a:t>1</a:t>
            </a:r>
            <a:endParaRPr lang="en-US" sz="2400" dirty="0"/>
          </a:p>
        </p:txBody>
      </p:sp>
      <p:sp>
        <p:nvSpPr>
          <p:cNvPr id="7" name="Text 5"/>
          <p:cNvSpPr txBox="1"/>
          <p:nvPr/>
        </p:nvSpPr>
        <p:spPr>
          <a:xfrm>
            <a:off x="1097280" y="5001768"/>
            <a:ext cx="2651760" cy="411480"/>
          </a:xfrm>
          <a:prstGeom prst="rect">
            <a:avLst/>
          </a:prstGeom>
          <a:noFill/>
          <a:ln/>
        </p:spPr>
        <p:txBody>
          <a:bodyPr wrap="square" lIns="0" tIns="0" rIns="0" bIns="0" rtlCol="0" anchor="ctr"/>
          <a:lstStyle/>
          <a:p>
            <a:pPr algn="l" indent="0" marL="0">
              <a:buNone/>
            </a:pPr>
            <a:r>
              <a:rPr lang="en-US" sz="2000" b="1" dirty="0">
                <a:solidFill>
                  <a:srgbClr val="FFFFFF"/>
                </a:solidFill>
                <a:latin typeface="Fraunces" pitchFamily="34" charset="0"/>
                <a:ea typeface="Fraunces" pitchFamily="34" charset="-122"/>
                <a:cs typeface="Fraunces" pitchFamily="34" charset="-120"/>
              </a:rPr>
              <a:t>We talk</a:t>
            </a:r>
            <a:endParaRPr lang="en-US" sz="2000" dirty="0"/>
          </a:p>
        </p:txBody>
      </p:sp>
      <p:sp>
        <p:nvSpPr>
          <p:cNvPr id="8" name="Text 6"/>
          <p:cNvSpPr txBox="1"/>
          <p:nvPr/>
        </p:nvSpPr>
        <p:spPr>
          <a:xfrm>
            <a:off x="1097280" y="5394960"/>
            <a:ext cx="2651760" cy="640080"/>
          </a:xfrm>
          <a:prstGeom prst="rect">
            <a:avLst/>
          </a:prstGeom>
          <a:noFill/>
          <a:ln/>
        </p:spPr>
        <p:txBody>
          <a:bodyPr wrap="square" lIns="0" tIns="0" rIns="0" bIns="0" rtlCol="0" anchor="t"/>
          <a:lstStyle/>
          <a:p>
            <a:pPr algn="l" indent="0" marL="0">
              <a:lnSpc>
                <a:spcPct val="110000"/>
              </a:lnSpc>
              <a:buNone/>
            </a:pPr>
            <a:r>
              <a:rPr lang="en-US" sz="1350" dirty="0">
                <a:solidFill>
                  <a:srgbClr val="94A3B8"/>
                </a:solidFill>
                <a:latin typeface="Nunito" pitchFamily="34" charset="0"/>
                <a:ea typeface="Nunito" pitchFamily="34" charset="-122"/>
                <a:cs typeface="Nunito" pitchFamily="34" charset="-120"/>
              </a:rPr>
              <a:t>Every engagement starts with discovery. A real conversation about where the work piles up.</a:t>
            </a:r>
            <a:endParaRPr lang="en-US" sz="1350" dirty="0"/>
          </a:p>
        </p:txBody>
      </p:sp>
      <p:sp>
        <p:nvSpPr>
          <p:cNvPr id="9" name="Shape 7"/>
          <p:cNvSpPr/>
          <p:nvPr/>
        </p:nvSpPr>
        <p:spPr>
          <a:xfrm>
            <a:off x="4434840" y="3977640"/>
            <a:ext cx="3291840" cy="2148840"/>
          </a:xfrm>
          <a:prstGeom prst="roundRect">
            <a:avLst>
              <a:gd name="adj" fmla="val 5106"/>
            </a:avLst>
          </a:prstGeom>
          <a:solidFill>
            <a:srgbClr val="1E293B">
              <a:alpha val="45000"/>
            </a:srgbClr>
          </a:solidFill>
          <a:ln w="12700">
            <a:solidFill>
              <a:srgbClr val="334155"/>
            </a:solidFill>
            <a:prstDash val="solid"/>
          </a:ln>
        </p:spPr>
      </p:sp>
      <p:sp>
        <p:nvSpPr>
          <p:cNvPr id="10" name="Shape 8"/>
          <p:cNvSpPr/>
          <p:nvPr/>
        </p:nvSpPr>
        <p:spPr>
          <a:xfrm>
            <a:off x="4754880" y="4297680"/>
            <a:ext cx="566928" cy="566928"/>
          </a:xfrm>
          <a:prstGeom prst="ellipse">
            <a:avLst/>
          </a:prstGeom>
          <a:solidFill>
            <a:srgbClr val="3B82F6">
              <a:alpha val="85000"/>
            </a:srgbClr>
          </a:solidFill>
          <a:ln w="12700">
            <a:solidFill>
              <a:srgbClr val="60A5FA"/>
            </a:solidFill>
            <a:prstDash val="solid"/>
          </a:ln>
        </p:spPr>
      </p:sp>
      <p:sp>
        <p:nvSpPr>
          <p:cNvPr id="11" name="Text 9"/>
          <p:cNvSpPr txBox="1"/>
          <p:nvPr/>
        </p:nvSpPr>
        <p:spPr>
          <a:xfrm>
            <a:off x="4754880" y="429768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Fraunces" pitchFamily="34" charset="0"/>
                <a:ea typeface="Fraunces" pitchFamily="34" charset="-122"/>
                <a:cs typeface="Fraunces" pitchFamily="34" charset="-120"/>
              </a:rPr>
              <a:t>2</a:t>
            </a:r>
            <a:endParaRPr lang="en-US" sz="2400" dirty="0"/>
          </a:p>
        </p:txBody>
      </p:sp>
      <p:sp>
        <p:nvSpPr>
          <p:cNvPr id="12" name="Text 10"/>
          <p:cNvSpPr txBox="1"/>
          <p:nvPr/>
        </p:nvSpPr>
        <p:spPr>
          <a:xfrm>
            <a:off x="4754880" y="5001768"/>
            <a:ext cx="2651760" cy="411480"/>
          </a:xfrm>
          <a:prstGeom prst="rect">
            <a:avLst/>
          </a:prstGeom>
          <a:noFill/>
          <a:ln/>
        </p:spPr>
        <p:txBody>
          <a:bodyPr wrap="square" lIns="0" tIns="0" rIns="0" bIns="0" rtlCol="0" anchor="ctr"/>
          <a:lstStyle/>
          <a:p>
            <a:pPr algn="l" indent="0" marL="0">
              <a:buNone/>
            </a:pPr>
            <a:r>
              <a:rPr lang="en-US" sz="2000" b="1" dirty="0">
                <a:solidFill>
                  <a:srgbClr val="FFFFFF"/>
                </a:solidFill>
                <a:latin typeface="Fraunces" pitchFamily="34" charset="0"/>
                <a:ea typeface="Fraunces" pitchFamily="34" charset="-122"/>
                <a:cs typeface="Fraunces" pitchFamily="34" charset="-120"/>
              </a:rPr>
              <a:t>We diagnose</a:t>
            </a:r>
            <a:endParaRPr lang="en-US" sz="2000" dirty="0"/>
          </a:p>
        </p:txBody>
      </p:sp>
      <p:sp>
        <p:nvSpPr>
          <p:cNvPr id="13" name="Text 11"/>
          <p:cNvSpPr txBox="1"/>
          <p:nvPr/>
        </p:nvSpPr>
        <p:spPr>
          <a:xfrm>
            <a:off x="4754880" y="5394960"/>
            <a:ext cx="2651760" cy="640080"/>
          </a:xfrm>
          <a:prstGeom prst="rect">
            <a:avLst/>
          </a:prstGeom>
          <a:noFill/>
          <a:ln/>
        </p:spPr>
        <p:txBody>
          <a:bodyPr wrap="square" lIns="0" tIns="0" rIns="0" bIns="0" rtlCol="0" anchor="t"/>
          <a:lstStyle/>
          <a:p>
            <a:pPr algn="l" indent="0" marL="0">
              <a:lnSpc>
                <a:spcPct val="110000"/>
              </a:lnSpc>
              <a:buNone/>
            </a:pPr>
            <a:r>
              <a:rPr lang="en-US" sz="1350" dirty="0">
                <a:solidFill>
                  <a:srgbClr val="94A3B8"/>
                </a:solidFill>
                <a:latin typeface="Nunito" pitchFamily="34" charset="0"/>
                <a:ea typeface="Nunito" pitchFamily="34" charset="-122"/>
                <a:cs typeface="Nunito" pitchFamily="34" charset="-120"/>
              </a:rPr>
              <a:t>We find the one bottleneck that's actually costing you time and money.</a:t>
            </a:r>
            <a:endParaRPr lang="en-US" sz="1350" dirty="0"/>
          </a:p>
        </p:txBody>
      </p:sp>
      <p:sp>
        <p:nvSpPr>
          <p:cNvPr id="14" name="Shape 12"/>
          <p:cNvSpPr/>
          <p:nvPr/>
        </p:nvSpPr>
        <p:spPr>
          <a:xfrm>
            <a:off x="8092440" y="3977640"/>
            <a:ext cx="3291840" cy="2148840"/>
          </a:xfrm>
          <a:prstGeom prst="roundRect">
            <a:avLst>
              <a:gd name="adj" fmla="val 5106"/>
            </a:avLst>
          </a:prstGeom>
          <a:solidFill>
            <a:srgbClr val="1E293B">
              <a:alpha val="45000"/>
            </a:srgbClr>
          </a:solidFill>
          <a:ln w="12700">
            <a:solidFill>
              <a:srgbClr val="334155"/>
            </a:solidFill>
            <a:prstDash val="solid"/>
          </a:ln>
        </p:spPr>
      </p:sp>
      <p:sp>
        <p:nvSpPr>
          <p:cNvPr id="15" name="Shape 13"/>
          <p:cNvSpPr/>
          <p:nvPr/>
        </p:nvSpPr>
        <p:spPr>
          <a:xfrm>
            <a:off x="8412480" y="4297680"/>
            <a:ext cx="566928" cy="566928"/>
          </a:xfrm>
          <a:prstGeom prst="ellipse">
            <a:avLst/>
          </a:prstGeom>
          <a:solidFill>
            <a:srgbClr val="3B82F6">
              <a:alpha val="85000"/>
            </a:srgbClr>
          </a:solidFill>
          <a:ln w="12700">
            <a:solidFill>
              <a:srgbClr val="60A5FA"/>
            </a:solidFill>
            <a:prstDash val="solid"/>
          </a:ln>
        </p:spPr>
      </p:sp>
      <p:sp>
        <p:nvSpPr>
          <p:cNvPr id="16" name="Text 14"/>
          <p:cNvSpPr txBox="1"/>
          <p:nvPr/>
        </p:nvSpPr>
        <p:spPr>
          <a:xfrm>
            <a:off x="8412480" y="429768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Fraunces" pitchFamily="34" charset="0"/>
                <a:ea typeface="Fraunces" pitchFamily="34" charset="-122"/>
                <a:cs typeface="Fraunces" pitchFamily="34" charset="-120"/>
              </a:rPr>
              <a:t>3</a:t>
            </a:r>
            <a:endParaRPr lang="en-US" sz="2400" dirty="0"/>
          </a:p>
        </p:txBody>
      </p:sp>
      <p:sp>
        <p:nvSpPr>
          <p:cNvPr id="17" name="Text 15"/>
          <p:cNvSpPr txBox="1"/>
          <p:nvPr/>
        </p:nvSpPr>
        <p:spPr>
          <a:xfrm>
            <a:off x="8412480" y="5001768"/>
            <a:ext cx="2651760" cy="411480"/>
          </a:xfrm>
          <a:prstGeom prst="rect">
            <a:avLst/>
          </a:prstGeom>
          <a:noFill/>
          <a:ln/>
        </p:spPr>
        <p:txBody>
          <a:bodyPr wrap="square" lIns="0" tIns="0" rIns="0" bIns="0" rtlCol="0" anchor="ctr"/>
          <a:lstStyle/>
          <a:p>
            <a:pPr algn="l" indent="0" marL="0">
              <a:buNone/>
            </a:pPr>
            <a:r>
              <a:rPr lang="en-US" sz="2000" b="1" dirty="0">
                <a:solidFill>
                  <a:srgbClr val="FFFFFF"/>
                </a:solidFill>
                <a:latin typeface="Fraunces" pitchFamily="34" charset="0"/>
                <a:ea typeface="Fraunces" pitchFamily="34" charset="-122"/>
                <a:cs typeface="Fraunces" pitchFamily="34" charset="-120"/>
              </a:rPr>
              <a:t>We build the fix</a:t>
            </a:r>
            <a:endParaRPr lang="en-US" sz="2000" dirty="0"/>
          </a:p>
        </p:txBody>
      </p:sp>
      <p:sp>
        <p:nvSpPr>
          <p:cNvPr id="18" name="Text 16"/>
          <p:cNvSpPr txBox="1"/>
          <p:nvPr/>
        </p:nvSpPr>
        <p:spPr>
          <a:xfrm>
            <a:off x="8412480" y="5394960"/>
            <a:ext cx="2651760" cy="640080"/>
          </a:xfrm>
          <a:prstGeom prst="rect">
            <a:avLst/>
          </a:prstGeom>
          <a:noFill/>
          <a:ln/>
        </p:spPr>
        <p:txBody>
          <a:bodyPr wrap="square" lIns="0" tIns="0" rIns="0" bIns="0" rtlCol="0" anchor="t"/>
          <a:lstStyle/>
          <a:p>
            <a:pPr algn="l" indent="0" marL="0">
              <a:lnSpc>
                <a:spcPct val="110000"/>
              </a:lnSpc>
              <a:buNone/>
            </a:pPr>
            <a:r>
              <a:rPr lang="en-US" sz="1350" dirty="0">
                <a:solidFill>
                  <a:srgbClr val="94A3B8"/>
                </a:solidFill>
                <a:latin typeface="Nunito" pitchFamily="34" charset="0"/>
                <a:ea typeface="Nunito" pitchFamily="34" charset="-122"/>
                <a:cs typeface="Nunito" pitchFamily="34" charset="-120"/>
              </a:rPr>
              <a:t>The specific system for that problem. No fixed product, no menu of modules.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pic>
        <p:nvPicPr>
          <p:cNvPr id="2" name="Image 0" descr="glow.png">    </p:cNvPr>
          <p:cNvPicPr>
            <a:picLocks noChangeAspect="1"/>
          </p:cNvPicPr>
          <p:nvPr/>
        </p:nvPicPr>
        <p:blipFill>
          <a:blip r:embed="rId1">
            <a:alphaModFix amt="55000"/>
          </a:blip>
          <a:stretch>
            <a:fillRect/>
          </a:stretch>
        </p:blipFill>
        <p:spPr>
          <a:xfrm>
            <a:off x="7863840" y="3108960"/>
            <a:ext cx="6858000" cy="6858000"/>
          </a:xfrm>
          <a:prstGeom prst="rect">
            <a:avLst/>
          </a:prstGeom>
        </p:spPr>
      </p:pic>
      <p:sp>
        <p:nvSpPr>
          <p:cNvPr id="3" name="Text 0"/>
          <p:cNvSpPr txBox="1"/>
          <p:nvPr/>
        </p:nvSpPr>
        <p:spPr>
          <a:xfrm>
            <a:off x="777240" y="640080"/>
            <a:ext cx="5486400" cy="320040"/>
          </a:xfrm>
          <a:prstGeom prst="rect">
            <a:avLst/>
          </a:prstGeom>
          <a:noFill/>
          <a:ln/>
        </p:spPr>
        <p:txBody>
          <a:bodyPr wrap="square" lIns="0" tIns="0" rIns="0" bIns="0" rtlCol="0" anchor="ctr"/>
          <a:lstStyle/>
          <a:p>
            <a:pPr algn="l" indent="0" marL="0">
              <a:buNone/>
            </a:pPr>
            <a:r>
              <a:rPr lang="en-US" sz="1300" b="1" spc="300" kern="0" dirty="0">
                <a:solidFill>
                  <a:srgbClr val="60A5FA"/>
                </a:solidFill>
                <a:latin typeface="Nunito" pitchFamily="34" charset="0"/>
                <a:ea typeface="Nunito" pitchFamily="34" charset="-122"/>
                <a:cs typeface="Nunito" pitchFamily="34" charset="-120"/>
              </a:rPr>
              <a:t>PROOF IT WORKS</a:t>
            </a:r>
            <a:endParaRPr lang="en-US" sz="1300" dirty="0"/>
          </a:p>
        </p:txBody>
      </p:sp>
      <p:sp>
        <p:nvSpPr>
          <p:cNvPr id="4" name="Text 1"/>
          <p:cNvSpPr txBox="1"/>
          <p:nvPr/>
        </p:nvSpPr>
        <p:spPr>
          <a:xfrm>
            <a:off x="777240" y="1097280"/>
            <a:ext cx="10607040" cy="548640"/>
          </a:xfrm>
          <a:prstGeom prst="rect">
            <a:avLst/>
          </a:prstGeom>
          <a:noFill/>
          <a:ln/>
        </p:spPr>
        <p:txBody>
          <a:bodyPr wrap="square" lIns="0" tIns="0" rIns="0" bIns="0" rtlCol="0" anchor="t"/>
          <a:lstStyle/>
          <a:p>
            <a:pPr algn="l" indent="0" marL="0">
              <a:buNone/>
            </a:pPr>
            <a:r>
              <a:rPr lang="en-US" sz="3000" b="1" dirty="0">
                <a:solidFill>
                  <a:srgbClr val="FFFFFF"/>
                </a:solidFill>
                <a:latin typeface="Fraunces" pitchFamily="34" charset="0"/>
                <a:ea typeface="Fraunces" pitchFamily="34" charset="-122"/>
                <a:cs typeface="Fraunces" pitchFamily="34" charset="-120"/>
              </a:rPr>
              <a:t>Real client. Real QuickBooks setup. Real result.</a:t>
            </a:r>
            <a:endParaRPr lang="en-US" sz="3000" dirty="0"/>
          </a:p>
        </p:txBody>
      </p:sp>
      <p:sp>
        <p:nvSpPr>
          <p:cNvPr id="5" name="Shape 2"/>
          <p:cNvSpPr/>
          <p:nvPr/>
        </p:nvSpPr>
        <p:spPr>
          <a:xfrm>
            <a:off x="777240" y="2331720"/>
            <a:ext cx="3291840" cy="3383280"/>
          </a:xfrm>
          <a:prstGeom prst="roundRect">
            <a:avLst>
              <a:gd name="adj" fmla="val 3333"/>
            </a:avLst>
          </a:prstGeom>
          <a:solidFill>
            <a:srgbClr val="1E293B">
              <a:alpha val="45000"/>
            </a:srgbClr>
          </a:solidFill>
          <a:ln w="12700">
            <a:solidFill>
              <a:srgbClr val="334155"/>
            </a:solidFill>
            <a:prstDash val="solid"/>
          </a:ln>
        </p:spPr>
      </p:sp>
      <p:sp>
        <p:nvSpPr>
          <p:cNvPr id="6" name="Text 3"/>
          <p:cNvSpPr txBox="1"/>
          <p:nvPr/>
        </p:nvSpPr>
        <p:spPr>
          <a:xfrm>
            <a:off x="1051560" y="2788920"/>
            <a:ext cx="2743200" cy="1234440"/>
          </a:xfrm>
          <a:prstGeom prst="rect">
            <a:avLst/>
          </a:prstGeom>
          <a:noFill/>
          <a:ln/>
        </p:spPr>
        <p:txBody>
          <a:bodyPr wrap="square" lIns="0" tIns="0" rIns="0" bIns="0" rtlCol="0" anchor="ctr"/>
          <a:lstStyle/>
          <a:p>
            <a:pPr algn="ctr" indent="0" marL="0">
              <a:buNone/>
            </a:pPr>
            <a:r>
              <a:rPr lang="en-US" sz="6000" b="1" dirty="0">
                <a:solidFill>
                  <a:srgbClr val="60A5FA"/>
                </a:solidFill>
                <a:latin typeface="Fraunces" pitchFamily="34" charset="0"/>
                <a:ea typeface="Fraunces" pitchFamily="34" charset="-122"/>
                <a:cs typeface="Fraunces" pitchFamily="34" charset="-120"/>
              </a:rPr>
              <a:t>5</a:t>
            </a:r>
            <a:pPr algn="ctr" indent="0" marL="0">
              <a:buNone/>
            </a:pPr>
            <a:r>
              <a:rPr lang="en-US" sz="6000" b="1" dirty="0">
                <a:solidFill>
                  <a:srgbClr val="818CF8"/>
                </a:solidFill>
                <a:latin typeface="Fraunces" pitchFamily="34" charset="0"/>
                <a:ea typeface="Fraunces" pitchFamily="34" charset="-122"/>
                <a:cs typeface="Fraunces" pitchFamily="34" charset="-120"/>
              </a:rPr>
              <a:t>2</a:t>
            </a:r>
            <a:pPr algn="ctr" indent="0" marL="0">
              <a:buNone/>
            </a:pPr>
            <a:r>
              <a:rPr lang="en-US" sz="4000" b="1" dirty="0">
                <a:solidFill>
                  <a:srgbClr val="64748B"/>
                </a:solidFill>
                <a:latin typeface="Fraunces" pitchFamily="34" charset="0"/>
                <a:ea typeface="Fraunces" pitchFamily="34" charset="-122"/>
                <a:cs typeface="Fraunces" pitchFamily="34" charset="-120"/>
              </a:rPr>
              <a:t> → </a:t>
            </a:r>
            <a:pPr algn="ctr" indent="0" marL="0">
              <a:buNone/>
            </a:pPr>
            <a:r>
              <a:rPr lang="en-US" sz="6000" b="1" dirty="0">
                <a:solidFill>
                  <a:srgbClr val="60A5FA"/>
                </a:solidFill>
                <a:latin typeface="Fraunces" pitchFamily="34" charset="0"/>
                <a:ea typeface="Fraunces" pitchFamily="34" charset="-122"/>
                <a:cs typeface="Fraunces" pitchFamily="34" charset="-120"/>
              </a:rPr>
              <a:t>3</a:t>
            </a:r>
            <a:pPr algn="ctr" indent="0" marL="0">
              <a:buNone/>
            </a:pPr>
            <a:r>
              <a:rPr lang="en-US" sz="6000" b="1" dirty="0">
                <a:solidFill>
                  <a:srgbClr val="818CF8"/>
                </a:solidFill>
                <a:latin typeface="Fraunces" pitchFamily="34" charset="0"/>
                <a:ea typeface="Fraunces" pitchFamily="34" charset="-122"/>
                <a:cs typeface="Fraunces" pitchFamily="34" charset="-120"/>
              </a:rPr>
              <a:t>3</a:t>
            </a:r>
            <a:endParaRPr lang="en-US" sz="6000" dirty="0"/>
          </a:p>
        </p:txBody>
      </p:sp>
      <p:sp>
        <p:nvSpPr>
          <p:cNvPr id="7" name="Text 4"/>
          <p:cNvSpPr txBox="1"/>
          <p:nvPr/>
        </p:nvSpPr>
        <p:spPr>
          <a:xfrm>
            <a:off x="1051560" y="3931920"/>
            <a:ext cx="2743200" cy="320040"/>
          </a:xfrm>
          <a:prstGeom prst="rect">
            <a:avLst/>
          </a:prstGeom>
          <a:noFill/>
          <a:ln/>
        </p:spPr>
        <p:txBody>
          <a:bodyPr wrap="square" lIns="0" tIns="0" rIns="0" bIns="0" rtlCol="0" anchor="ctr"/>
          <a:lstStyle/>
          <a:p>
            <a:pPr algn="ctr" indent="0" marL="0">
              <a:buNone/>
            </a:pPr>
            <a:r>
              <a:rPr lang="en-US" sz="1500" b="1" spc="200" kern="0" dirty="0">
                <a:solidFill>
                  <a:srgbClr val="64748B"/>
                </a:solidFill>
                <a:latin typeface="Nunito" pitchFamily="34" charset="0"/>
                <a:ea typeface="Nunito" pitchFamily="34" charset="-122"/>
                <a:cs typeface="Nunito" pitchFamily="34" charset="-120"/>
              </a:rPr>
              <a:t>days</a:t>
            </a:r>
            <a:endParaRPr lang="en-US" sz="1500" dirty="0"/>
          </a:p>
        </p:txBody>
      </p:sp>
      <p:sp>
        <p:nvSpPr>
          <p:cNvPr id="8" name="Text 5"/>
          <p:cNvSpPr txBox="1"/>
          <p:nvPr/>
        </p:nvSpPr>
        <p:spPr>
          <a:xfrm>
            <a:off x="1097280" y="4343400"/>
            <a:ext cx="2651760" cy="640080"/>
          </a:xfrm>
          <a:prstGeom prst="rect">
            <a:avLst/>
          </a:prstGeom>
          <a:noFill/>
          <a:ln/>
        </p:spPr>
        <p:txBody>
          <a:bodyPr wrap="square" lIns="0" tIns="0" rIns="0" bIns="0" rtlCol="0" anchor="t"/>
          <a:lstStyle/>
          <a:p>
            <a:pPr algn="ctr" indent="0" marL="0">
              <a:lnSpc>
                <a:spcPct val="105000"/>
              </a:lnSpc>
              <a:buNone/>
            </a:pPr>
            <a:r>
              <a:rPr lang="en-US" sz="1500" dirty="0">
                <a:solidFill>
                  <a:srgbClr val="CBD5E1"/>
                </a:solidFill>
                <a:latin typeface="Nunito" pitchFamily="34" charset="0"/>
                <a:ea typeface="Nunito" pitchFamily="34" charset="-122"/>
                <a:cs typeface="Nunito" pitchFamily="34" charset="-120"/>
              </a:rPr>
              <a:t>Days to get paid (DSO)</a:t>
            </a:r>
            <a:endParaRPr lang="en-US" sz="1500" dirty="0"/>
          </a:p>
        </p:txBody>
      </p:sp>
      <p:sp>
        <p:nvSpPr>
          <p:cNvPr id="9" name="Shape 6"/>
          <p:cNvSpPr/>
          <p:nvPr/>
        </p:nvSpPr>
        <p:spPr>
          <a:xfrm>
            <a:off x="1527048" y="5056632"/>
            <a:ext cx="1792224" cy="384048"/>
          </a:xfrm>
          <a:prstGeom prst="roundRect">
            <a:avLst>
              <a:gd name="adj" fmla="val 50000"/>
            </a:avLst>
          </a:prstGeom>
          <a:solidFill>
            <a:srgbClr val="4ADE80">
              <a:alpha val="18000"/>
            </a:srgbClr>
          </a:solidFill>
          <a:ln w="12700">
            <a:solidFill>
              <a:srgbClr val="4ADE80">
                <a:alpha val="60000"/>
              </a:srgbClr>
            </a:solidFill>
            <a:prstDash val="solid"/>
          </a:ln>
        </p:spPr>
      </p:sp>
      <p:sp>
        <p:nvSpPr>
          <p:cNvPr id="10" name="Text 7"/>
          <p:cNvSpPr txBox="1"/>
          <p:nvPr/>
        </p:nvSpPr>
        <p:spPr>
          <a:xfrm>
            <a:off x="1527048" y="5056632"/>
            <a:ext cx="1792224" cy="384048"/>
          </a:xfrm>
          <a:prstGeom prst="rect">
            <a:avLst/>
          </a:prstGeom>
          <a:noFill/>
          <a:ln/>
        </p:spPr>
        <p:txBody>
          <a:bodyPr wrap="square" lIns="0" tIns="0" rIns="0" bIns="0" rtlCol="0" anchor="ctr"/>
          <a:lstStyle/>
          <a:p>
            <a:pPr algn="ctr" indent="0" marL="0">
              <a:buNone/>
            </a:pPr>
            <a:r>
              <a:rPr lang="en-US" sz="1200" b="1" dirty="0">
                <a:solidFill>
                  <a:srgbClr val="4ADE80"/>
                </a:solidFill>
                <a:latin typeface="Nunito" pitchFamily="34" charset="0"/>
                <a:ea typeface="Nunito" pitchFamily="34" charset="-122"/>
                <a:cs typeface="Nunito" pitchFamily="34" charset="-120"/>
              </a:rPr>
              <a:t>↑ </a:t>
            </a:r>
            <a:pPr algn="ctr" indent="0" marL="0">
              <a:buNone/>
            </a:pPr>
            <a:r>
              <a:rPr lang="en-US" sz="1200" b="1" dirty="0">
                <a:solidFill>
                  <a:srgbClr val="4ADE80"/>
                </a:solidFill>
                <a:latin typeface="Nunito" pitchFamily="34" charset="0"/>
                <a:ea typeface="Nunito" pitchFamily="34" charset="-122"/>
                <a:cs typeface="Nunito" pitchFamily="34" charset="-120"/>
              </a:rPr>
              <a:t>19 days faster</a:t>
            </a:r>
            <a:endParaRPr lang="en-US" sz="1200" dirty="0"/>
          </a:p>
        </p:txBody>
      </p:sp>
      <p:sp>
        <p:nvSpPr>
          <p:cNvPr id="11" name="Shape 8"/>
          <p:cNvSpPr/>
          <p:nvPr/>
        </p:nvSpPr>
        <p:spPr>
          <a:xfrm>
            <a:off x="4434840" y="2331720"/>
            <a:ext cx="3291840" cy="3383280"/>
          </a:xfrm>
          <a:prstGeom prst="roundRect">
            <a:avLst>
              <a:gd name="adj" fmla="val 3333"/>
            </a:avLst>
          </a:prstGeom>
          <a:solidFill>
            <a:srgbClr val="1E293B">
              <a:alpha val="45000"/>
            </a:srgbClr>
          </a:solidFill>
          <a:ln w="12700">
            <a:solidFill>
              <a:srgbClr val="334155"/>
            </a:solidFill>
            <a:prstDash val="solid"/>
          </a:ln>
        </p:spPr>
      </p:sp>
      <p:sp>
        <p:nvSpPr>
          <p:cNvPr id="12" name="Text 9"/>
          <p:cNvSpPr txBox="1"/>
          <p:nvPr/>
        </p:nvSpPr>
        <p:spPr>
          <a:xfrm>
            <a:off x="4709160" y="2788920"/>
            <a:ext cx="2743200" cy="1234440"/>
          </a:xfrm>
          <a:prstGeom prst="rect">
            <a:avLst/>
          </a:prstGeom>
          <a:noFill/>
          <a:ln/>
        </p:spPr>
        <p:txBody>
          <a:bodyPr wrap="square" lIns="0" tIns="0" rIns="0" bIns="0" rtlCol="0" anchor="ctr"/>
          <a:lstStyle/>
          <a:p>
            <a:pPr algn="ctr" indent="0" marL="0">
              <a:buNone/>
            </a:pPr>
            <a:r>
              <a:rPr lang="en-US" sz="6600" b="1" dirty="0">
                <a:solidFill>
                  <a:srgbClr val="60A5FA"/>
                </a:solidFill>
                <a:latin typeface="Fraunces" pitchFamily="34" charset="0"/>
                <a:ea typeface="Fraunces" pitchFamily="34" charset="-122"/>
                <a:cs typeface="Fraunces" pitchFamily="34" charset="-120"/>
              </a:rPr>
              <a:t>8</a:t>
            </a:r>
            <a:pPr algn="ctr" indent="0" marL="0">
              <a:buNone/>
            </a:pPr>
            <a:r>
              <a:rPr lang="en-US" sz="6600" b="1" dirty="0">
                <a:solidFill>
                  <a:srgbClr val="818CF8"/>
                </a:solidFill>
                <a:latin typeface="Fraunces" pitchFamily="34" charset="0"/>
                <a:ea typeface="Fraunces" pitchFamily="34" charset="-122"/>
                <a:cs typeface="Fraunces" pitchFamily="34" charset="-120"/>
              </a:rPr>
              <a:t>4</a:t>
            </a:r>
            <a:pPr algn="ctr" indent="0" marL="0">
              <a:buNone/>
            </a:pPr>
            <a:r>
              <a:rPr lang="en-US" sz="4000" b="1" dirty="0">
                <a:solidFill>
                  <a:srgbClr val="818CF8"/>
                </a:solidFill>
                <a:latin typeface="Fraunces" pitchFamily="34" charset="0"/>
                <a:ea typeface="Fraunces" pitchFamily="34" charset="-122"/>
                <a:cs typeface="Fraunces" pitchFamily="34" charset="-120"/>
              </a:rPr>
              <a:t>%</a:t>
            </a:r>
            <a:endParaRPr lang="en-US" sz="6600" dirty="0"/>
          </a:p>
        </p:txBody>
      </p:sp>
      <p:sp>
        <p:nvSpPr>
          <p:cNvPr id="13" name="Text 10"/>
          <p:cNvSpPr txBox="1"/>
          <p:nvPr/>
        </p:nvSpPr>
        <p:spPr>
          <a:xfrm>
            <a:off x="4754880" y="4206240"/>
            <a:ext cx="2651760" cy="640080"/>
          </a:xfrm>
          <a:prstGeom prst="rect">
            <a:avLst/>
          </a:prstGeom>
          <a:noFill/>
          <a:ln/>
        </p:spPr>
        <p:txBody>
          <a:bodyPr wrap="square" lIns="0" tIns="0" rIns="0" bIns="0" rtlCol="0" anchor="t"/>
          <a:lstStyle/>
          <a:p>
            <a:pPr algn="ctr" indent="0" marL="0">
              <a:lnSpc>
                <a:spcPct val="105000"/>
              </a:lnSpc>
              <a:buNone/>
            </a:pPr>
            <a:r>
              <a:rPr lang="en-US" sz="1500" dirty="0">
                <a:solidFill>
                  <a:srgbClr val="CBD5E1"/>
                </a:solidFill>
                <a:latin typeface="Nunito" pitchFamily="34" charset="0"/>
                <a:ea typeface="Nunito" pitchFamily="34" charset="-122"/>
                <a:cs typeface="Nunito" pitchFamily="34" charset="-120"/>
              </a:rPr>
              <a:t>Less time on invoice processing</a:t>
            </a:r>
            <a:endParaRPr lang="en-US" sz="1500" dirty="0"/>
          </a:p>
        </p:txBody>
      </p:sp>
      <p:sp>
        <p:nvSpPr>
          <p:cNvPr id="14" name="Shape 11"/>
          <p:cNvSpPr/>
          <p:nvPr/>
        </p:nvSpPr>
        <p:spPr>
          <a:xfrm>
            <a:off x="5061204" y="5056632"/>
            <a:ext cx="2039112" cy="384048"/>
          </a:xfrm>
          <a:prstGeom prst="roundRect">
            <a:avLst>
              <a:gd name="adj" fmla="val 50000"/>
            </a:avLst>
          </a:prstGeom>
          <a:solidFill>
            <a:srgbClr val="4ADE80">
              <a:alpha val="18000"/>
            </a:srgbClr>
          </a:solidFill>
          <a:ln w="12700">
            <a:solidFill>
              <a:srgbClr val="4ADE80">
                <a:alpha val="60000"/>
              </a:srgbClr>
            </a:solidFill>
            <a:prstDash val="solid"/>
          </a:ln>
        </p:spPr>
      </p:sp>
      <p:sp>
        <p:nvSpPr>
          <p:cNvPr id="15" name="Text 12"/>
          <p:cNvSpPr txBox="1"/>
          <p:nvPr/>
        </p:nvSpPr>
        <p:spPr>
          <a:xfrm>
            <a:off x="5061204" y="5056632"/>
            <a:ext cx="2039112" cy="384048"/>
          </a:xfrm>
          <a:prstGeom prst="rect">
            <a:avLst/>
          </a:prstGeom>
          <a:noFill/>
          <a:ln/>
        </p:spPr>
        <p:txBody>
          <a:bodyPr wrap="square" lIns="0" tIns="0" rIns="0" bIns="0" rtlCol="0" anchor="ctr"/>
          <a:lstStyle/>
          <a:p>
            <a:pPr algn="ctr" indent="0" marL="0">
              <a:buNone/>
            </a:pPr>
            <a:r>
              <a:rPr lang="en-US" sz="1200" b="1" dirty="0">
                <a:solidFill>
                  <a:srgbClr val="4ADE80"/>
                </a:solidFill>
                <a:latin typeface="Nunito" pitchFamily="34" charset="0"/>
                <a:ea typeface="Nunito" pitchFamily="34" charset="-122"/>
                <a:cs typeface="Nunito" pitchFamily="34" charset="-120"/>
              </a:rPr>
              <a:t>↑ </a:t>
            </a:r>
            <a:pPr algn="ctr" indent="0" marL="0">
              <a:buNone/>
            </a:pPr>
            <a:r>
              <a:rPr lang="en-US" sz="1200" b="1" dirty="0">
                <a:solidFill>
                  <a:srgbClr val="4ADE80"/>
                </a:solidFill>
                <a:latin typeface="Nunito" pitchFamily="34" charset="0"/>
                <a:ea typeface="Nunito" pitchFamily="34" charset="-122"/>
                <a:cs typeface="Nunito" pitchFamily="34" charset="-120"/>
              </a:rPr>
              <a:t>Manual work, gone</a:t>
            </a:r>
            <a:endParaRPr lang="en-US" sz="1200" dirty="0"/>
          </a:p>
        </p:txBody>
      </p:sp>
      <p:sp>
        <p:nvSpPr>
          <p:cNvPr id="16" name="Shape 13"/>
          <p:cNvSpPr/>
          <p:nvPr/>
        </p:nvSpPr>
        <p:spPr>
          <a:xfrm>
            <a:off x="8092440" y="2331720"/>
            <a:ext cx="3291840" cy="3383280"/>
          </a:xfrm>
          <a:prstGeom prst="roundRect">
            <a:avLst>
              <a:gd name="adj" fmla="val 3333"/>
            </a:avLst>
          </a:prstGeom>
          <a:solidFill>
            <a:srgbClr val="1E293B">
              <a:alpha val="45000"/>
            </a:srgbClr>
          </a:solidFill>
          <a:ln w="12700">
            <a:solidFill>
              <a:srgbClr val="334155"/>
            </a:solidFill>
            <a:prstDash val="solid"/>
          </a:ln>
        </p:spPr>
      </p:sp>
      <p:sp>
        <p:nvSpPr>
          <p:cNvPr id="17" name="Text 14"/>
          <p:cNvSpPr txBox="1"/>
          <p:nvPr/>
        </p:nvSpPr>
        <p:spPr>
          <a:xfrm>
            <a:off x="8366760" y="2788920"/>
            <a:ext cx="2743200" cy="1234440"/>
          </a:xfrm>
          <a:prstGeom prst="rect">
            <a:avLst/>
          </a:prstGeom>
          <a:noFill/>
          <a:ln/>
        </p:spPr>
        <p:txBody>
          <a:bodyPr wrap="square" lIns="0" tIns="0" rIns="0" bIns="0" rtlCol="0" anchor="ctr"/>
          <a:lstStyle/>
          <a:p>
            <a:pPr algn="ctr" indent="0" marL="0">
              <a:buNone/>
            </a:pPr>
            <a:r>
              <a:rPr lang="en-US" sz="6600" b="1" dirty="0">
                <a:solidFill>
                  <a:srgbClr val="60A5FA"/>
                </a:solidFill>
                <a:latin typeface="Fraunces" pitchFamily="34" charset="0"/>
                <a:ea typeface="Fraunces" pitchFamily="34" charset="-122"/>
                <a:cs typeface="Fraunces" pitchFamily="34" charset="-120"/>
              </a:rPr>
              <a:t>$</a:t>
            </a:r>
            <a:pPr algn="ctr" indent="0" marL="0">
              <a:buNone/>
            </a:pPr>
            <a:r>
              <a:rPr lang="en-US" sz="6600" b="1" dirty="0">
                <a:solidFill>
                  <a:srgbClr val="7199F9"/>
                </a:solidFill>
                <a:latin typeface="Fraunces" pitchFamily="34" charset="0"/>
                <a:ea typeface="Fraunces" pitchFamily="34" charset="-122"/>
                <a:cs typeface="Fraunces" pitchFamily="34" charset="-120"/>
              </a:rPr>
              <a:t>6</a:t>
            </a:r>
            <a:pPr algn="ctr" indent="0" marL="0">
              <a:buNone/>
            </a:pPr>
            <a:r>
              <a:rPr lang="en-US" sz="6600" b="1" dirty="0">
                <a:solidFill>
                  <a:srgbClr val="818CF8"/>
                </a:solidFill>
                <a:latin typeface="Fraunces" pitchFamily="34" charset="0"/>
                <a:ea typeface="Fraunces" pitchFamily="34" charset="-122"/>
                <a:cs typeface="Fraunces" pitchFamily="34" charset="-120"/>
              </a:rPr>
              <a:t>5</a:t>
            </a:r>
            <a:pPr algn="ctr" indent="0" marL="0">
              <a:buNone/>
            </a:pPr>
            <a:r>
              <a:rPr lang="en-US" sz="4000" b="1" dirty="0">
                <a:solidFill>
                  <a:srgbClr val="818CF8"/>
                </a:solidFill>
                <a:latin typeface="Fraunces" pitchFamily="34" charset="0"/>
                <a:ea typeface="Fraunces" pitchFamily="34" charset="-122"/>
                <a:cs typeface="Fraunces" pitchFamily="34" charset="-120"/>
              </a:rPr>
              <a:t>K+</a:t>
            </a:r>
            <a:endParaRPr lang="en-US" sz="6600" dirty="0"/>
          </a:p>
        </p:txBody>
      </p:sp>
      <p:sp>
        <p:nvSpPr>
          <p:cNvPr id="18" name="Text 15"/>
          <p:cNvSpPr txBox="1"/>
          <p:nvPr/>
        </p:nvSpPr>
        <p:spPr>
          <a:xfrm>
            <a:off x="8412480" y="4206240"/>
            <a:ext cx="2651760" cy="640080"/>
          </a:xfrm>
          <a:prstGeom prst="rect">
            <a:avLst/>
          </a:prstGeom>
          <a:noFill/>
          <a:ln/>
        </p:spPr>
        <p:txBody>
          <a:bodyPr wrap="square" lIns="0" tIns="0" rIns="0" bIns="0" rtlCol="0" anchor="t"/>
          <a:lstStyle/>
          <a:p>
            <a:pPr algn="ctr" indent="0" marL="0">
              <a:lnSpc>
                <a:spcPct val="105000"/>
              </a:lnSpc>
              <a:buNone/>
            </a:pPr>
            <a:r>
              <a:rPr lang="en-US" sz="1500" dirty="0">
                <a:solidFill>
                  <a:srgbClr val="CBD5E1"/>
                </a:solidFill>
                <a:latin typeface="Nunito" pitchFamily="34" charset="0"/>
                <a:ea typeface="Nunito" pitchFamily="34" charset="-122"/>
                <a:cs typeface="Nunito" pitchFamily="34" charset="-120"/>
              </a:rPr>
              <a:t>Working capital freed up</a:t>
            </a:r>
            <a:endParaRPr lang="en-US" sz="1500" dirty="0"/>
          </a:p>
        </p:txBody>
      </p:sp>
      <p:sp>
        <p:nvSpPr>
          <p:cNvPr id="19" name="Shape 16"/>
          <p:cNvSpPr/>
          <p:nvPr/>
        </p:nvSpPr>
        <p:spPr>
          <a:xfrm>
            <a:off x="8389620" y="5056632"/>
            <a:ext cx="2697480" cy="384048"/>
          </a:xfrm>
          <a:prstGeom prst="roundRect">
            <a:avLst>
              <a:gd name="adj" fmla="val 50000"/>
            </a:avLst>
          </a:prstGeom>
          <a:solidFill>
            <a:srgbClr val="4ADE80">
              <a:alpha val="18000"/>
            </a:srgbClr>
          </a:solidFill>
          <a:ln w="12700">
            <a:solidFill>
              <a:srgbClr val="4ADE80">
                <a:alpha val="60000"/>
              </a:srgbClr>
            </a:solidFill>
            <a:prstDash val="solid"/>
          </a:ln>
        </p:spPr>
      </p:sp>
      <p:sp>
        <p:nvSpPr>
          <p:cNvPr id="20" name="Text 17"/>
          <p:cNvSpPr txBox="1"/>
          <p:nvPr/>
        </p:nvSpPr>
        <p:spPr>
          <a:xfrm>
            <a:off x="8389620" y="5056632"/>
            <a:ext cx="2697480" cy="384048"/>
          </a:xfrm>
          <a:prstGeom prst="rect">
            <a:avLst/>
          </a:prstGeom>
          <a:noFill/>
          <a:ln/>
        </p:spPr>
        <p:txBody>
          <a:bodyPr wrap="square" lIns="0" tIns="0" rIns="0" bIns="0" rtlCol="0" anchor="ctr"/>
          <a:lstStyle/>
          <a:p>
            <a:pPr algn="ctr" indent="0" marL="0">
              <a:buNone/>
            </a:pPr>
            <a:r>
              <a:rPr lang="en-US" sz="1200" b="1" dirty="0">
                <a:solidFill>
                  <a:srgbClr val="4ADE80"/>
                </a:solidFill>
                <a:latin typeface="Nunito" pitchFamily="34" charset="0"/>
                <a:ea typeface="Nunito" pitchFamily="34" charset="-122"/>
                <a:cs typeface="Nunito" pitchFamily="34" charset="-120"/>
              </a:rPr>
              <a:t>↑ </a:t>
            </a:r>
            <a:pPr algn="ctr" indent="0" marL="0">
              <a:buNone/>
            </a:pPr>
            <a:r>
              <a:rPr lang="en-US" sz="1200" b="1" dirty="0">
                <a:solidFill>
                  <a:srgbClr val="4ADE80"/>
                </a:solidFill>
                <a:latin typeface="Nunito" pitchFamily="34" charset="0"/>
                <a:ea typeface="Nunito" pitchFamily="34" charset="-122"/>
                <a:cs typeface="Nunito" pitchFamily="34" charset="-120"/>
              </a:rPr>
              <a:t>Cash back in the business</a:t>
            </a:r>
            <a:endParaRPr lang="en-US" sz="1200" dirty="0"/>
          </a:p>
        </p:txBody>
      </p:sp>
      <p:sp>
        <p:nvSpPr>
          <p:cNvPr id="21" name="Text 18"/>
          <p:cNvSpPr txBox="1"/>
          <p:nvPr/>
        </p:nvSpPr>
        <p:spPr>
          <a:xfrm>
            <a:off x="777240" y="5989320"/>
            <a:ext cx="10607040" cy="365760"/>
          </a:xfrm>
          <a:prstGeom prst="rect">
            <a:avLst/>
          </a:prstGeom>
          <a:noFill/>
          <a:ln/>
        </p:spPr>
        <p:txBody>
          <a:bodyPr wrap="square" lIns="0" tIns="0" rIns="0" bIns="0" rtlCol="0" anchor="ctr"/>
          <a:lstStyle/>
          <a:p>
            <a:pPr algn="ctr" indent="0" marL="0">
              <a:buNone/>
            </a:pPr>
            <a:r>
              <a:rPr lang="en-US" sz="1500" b="1" spc="100" kern="0" dirty="0">
                <a:solidFill>
                  <a:srgbClr val="94A3B8"/>
                </a:solidFill>
                <a:latin typeface="Nunito" pitchFamily="34" charset="0"/>
                <a:ea typeface="Nunito" pitchFamily="34" charset="-122"/>
                <a:cs typeface="Nunito" pitchFamily="34" charset="-120"/>
              </a:rPr>
              <a:t>Kaptain Clean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777240" y="640080"/>
            <a:ext cx="7315200" cy="320040"/>
          </a:xfrm>
          <a:prstGeom prst="rect">
            <a:avLst/>
          </a:prstGeom>
          <a:noFill/>
          <a:ln/>
        </p:spPr>
        <p:txBody>
          <a:bodyPr wrap="square" lIns="0" tIns="0" rIns="0" bIns="0" rtlCol="0" anchor="ctr"/>
          <a:lstStyle/>
          <a:p>
            <a:pPr algn="l" indent="0" marL="0">
              <a:buNone/>
            </a:pPr>
            <a:r>
              <a:rPr lang="en-US" sz="1300" b="1" spc="300" kern="0" dirty="0">
                <a:solidFill>
                  <a:srgbClr val="60A5FA"/>
                </a:solidFill>
                <a:latin typeface="Nunito" pitchFamily="34" charset="0"/>
                <a:ea typeface="Nunito" pitchFamily="34" charset="-122"/>
                <a:cs typeface="Nunito" pitchFamily="34" charset="-120"/>
              </a:rPr>
              <a:t>THE KEY RELATIONSHIP</a:t>
            </a:r>
            <a:endParaRPr lang="en-US" sz="1300" dirty="0"/>
          </a:p>
        </p:txBody>
      </p:sp>
      <p:sp>
        <p:nvSpPr>
          <p:cNvPr id="3" name="Text 1"/>
          <p:cNvSpPr txBox="1"/>
          <p:nvPr/>
        </p:nvSpPr>
        <p:spPr>
          <a:xfrm>
            <a:off x="777240" y="1097280"/>
            <a:ext cx="10607040" cy="1280160"/>
          </a:xfrm>
          <a:prstGeom prst="rect">
            <a:avLst/>
          </a:prstGeom>
          <a:noFill/>
          <a:ln/>
        </p:spPr>
        <p:txBody>
          <a:bodyPr wrap="square" lIns="0" tIns="0" rIns="0" bIns="0" rtlCol="0" anchor="t"/>
          <a:lstStyle/>
          <a:p>
            <a:pPr algn="l" indent="0" marL="0">
              <a:lnSpc>
                <a:spcPct val="105000"/>
              </a:lnSpc>
              <a:buNone/>
            </a:pPr>
            <a:r>
              <a:rPr lang="en-US" sz="3200" b="1" dirty="0">
                <a:solidFill>
                  <a:srgbClr val="FFFFFF"/>
                </a:solidFill>
                <a:latin typeface="Fraunces" pitchFamily="34" charset="0"/>
                <a:ea typeface="Fraunces" pitchFamily="34" charset="-122"/>
                <a:cs typeface="Fraunces" pitchFamily="34" charset="-120"/>
              </a:rPr>
              <a:t>Bookkeepers and fractional CFOs </a:t>
            </a:r>
            <a:pPr algn="l" indent="0" marL="0">
              <a:lnSpc>
                <a:spcPct val="105000"/>
              </a:lnSpc>
              <a:buNone/>
            </a:pPr>
            <a:r>
              <a:rPr lang="en-US" sz="3200" b="1" dirty="0">
                <a:solidFill>
                  <a:srgbClr val="60A5FA"/>
                </a:solidFill>
                <a:latin typeface="Fraunces" pitchFamily="34" charset="0"/>
                <a:ea typeface="Fraunces" pitchFamily="34" charset="-122"/>
                <a:cs typeface="Fraunces" pitchFamily="34" charset="-120"/>
              </a:rPr>
              <a:t>feel this pain on every client.</a:t>
            </a:r>
            <a:endParaRPr lang="en-US" sz="3200" dirty="0"/>
          </a:p>
        </p:txBody>
      </p:sp>
      <p:sp>
        <p:nvSpPr>
          <p:cNvPr id="4" name="Shape 2"/>
          <p:cNvSpPr/>
          <p:nvPr/>
        </p:nvSpPr>
        <p:spPr>
          <a:xfrm>
            <a:off x="777240" y="2651760"/>
            <a:ext cx="10607040" cy="1143000"/>
          </a:xfrm>
          <a:prstGeom prst="roundRect">
            <a:avLst>
              <a:gd name="adj" fmla="val 9600"/>
            </a:avLst>
          </a:prstGeom>
          <a:solidFill>
            <a:srgbClr val="1E293B">
              <a:alpha val="45000"/>
            </a:srgbClr>
          </a:solidFill>
          <a:ln w="12700">
            <a:solidFill>
              <a:srgbClr val="334155"/>
            </a:solidFill>
            <a:prstDash val="solid"/>
          </a:ln>
        </p:spPr>
      </p:sp>
      <p:sp>
        <p:nvSpPr>
          <p:cNvPr id="5" name="Shape 3"/>
          <p:cNvSpPr/>
          <p:nvPr/>
        </p:nvSpPr>
        <p:spPr>
          <a:xfrm>
            <a:off x="1097280" y="2903220"/>
            <a:ext cx="640080" cy="640080"/>
          </a:xfrm>
          <a:prstGeom prst="ellipse">
            <a:avLst/>
          </a:prstGeom>
          <a:solidFill>
            <a:srgbClr val="3B82F6">
              <a:alpha val="85000"/>
            </a:srgbClr>
          </a:solidFill>
          <a:ln w="12700">
            <a:solidFill>
              <a:srgbClr val="60A5FA"/>
            </a:solidFill>
            <a:prstDash val="solid"/>
          </a:ln>
        </p:spPr>
      </p:sp>
      <p:sp>
        <p:nvSpPr>
          <p:cNvPr id="6" name="Text 4"/>
          <p:cNvSpPr txBox="1"/>
          <p:nvPr/>
        </p:nvSpPr>
        <p:spPr>
          <a:xfrm>
            <a:off x="1097280" y="290322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Fraunces" pitchFamily="34" charset="0"/>
                <a:ea typeface="Fraunces" pitchFamily="34" charset="-122"/>
                <a:cs typeface="Fraunces" pitchFamily="34" charset="-120"/>
              </a:rPr>
              <a:t>1</a:t>
            </a:r>
            <a:endParaRPr lang="en-US" sz="2400" dirty="0"/>
          </a:p>
        </p:txBody>
      </p:sp>
      <p:sp>
        <p:nvSpPr>
          <p:cNvPr id="7" name="Text 5"/>
          <p:cNvSpPr txBox="1"/>
          <p:nvPr/>
        </p:nvSpPr>
        <p:spPr>
          <a:xfrm>
            <a:off x="2011680" y="2834640"/>
            <a:ext cx="9052560" cy="411480"/>
          </a:xfrm>
          <a:prstGeom prst="rect">
            <a:avLst/>
          </a:prstGeom>
          <a:noFill/>
          <a:ln/>
        </p:spPr>
        <p:txBody>
          <a:bodyPr wrap="square" lIns="0" tIns="0" rIns="0" bIns="0" rtlCol="0" anchor="ctr"/>
          <a:lstStyle/>
          <a:p>
            <a:pPr algn="l" indent="0" marL="0">
              <a:buNone/>
            </a:pPr>
            <a:r>
              <a:rPr lang="en-US" sz="2000" b="1" dirty="0">
                <a:solidFill>
                  <a:srgbClr val="FFFFFF"/>
                </a:solidFill>
                <a:latin typeface="Fraunces" pitchFamily="34" charset="0"/>
                <a:ea typeface="Fraunces" pitchFamily="34" charset="-122"/>
                <a:cs typeface="Fraunces" pitchFamily="34" charset="-120"/>
              </a:rPr>
              <a:t>They carry it across every client</a:t>
            </a:r>
            <a:endParaRPr lang="en-US" sz="2000" dirty="0"/>
          </a:p>
        </p:txBody>
      </p:sp>
      <p:sp>
        <p:nvSpPr>
          <p:cNvPr id="8" name="Text 6"/>
          <p:cNvSpPr txBox="1"/>
          <p:nvPr/>
        </p:nvSpPr>
        <p:spPr>
          <a:xfrm>
            <a:off x="2011680" y="3236976"/>
            <a:ext cx="9052560" cy="457200"/>
          </a:xfrm>
          <a:prstGeom prst="rect">
            <a:avLst/>
          </a:prstGeom>
          <a:noFill/>
          <a:ln/>
        </p:spPr>
        <p:txBody>
          <a:bodyPr wrap="square" lIns="0" tIns="0" rIns="0" bIns="0" rtlCol="0" anchor="t"/>
          <a:lstStyle/>
          <a:p>
            <a:pPr algn="l" indent="0" marL="0">
              <a:lnSpc>
                <a:spcPct val="105000"/>
              </a:lnSpc>
              <a:buNone/>
            </a:pPr>
            <a:r>
              <a:rPr lang="en-US" sz="1450" dirty="0">
                <a:solidFill>
                  <a:srgbClr val="94A3B8"/>
                </a:solidFill>
                <a:latin typeface="Nunito" pitchFamily="34" charset="0"/>
                <a:ea typeface="Nunito" pitchFamily="34" charset="-122"/>
                <a:cs typeface="Nunito" pitchFamily="34" charset="-120"/>
              </a:rPr>
              <a:t>The same manual close, reconciliation, and AR follow-up, repeated for every business on their books.</a:t>
            </a:r>
            <a:endParaRPr lang="en-US" sz="1450" dirty="0"/>
          </a:p>
        </p:txBody>
      </p:sp>
      <p:sp>
        <p:nvSpPr>
          <p:cNvPr id="9" name="Shape 7"/>
          <p:cNvSpPr/>
          <p:nvPr/>
        </p:nvSpPr>
        <p:spPr>
          <a:xfrm>
            <a:off x="777240" y="3959352"/>
            <a:ext cx="10607040" cy="1143000"/>
          </a:xfrm>
          <a:prstGeom prst="roundRect">
            <a:avLst>
              <a:gd name="adj" fmla="val 9600"/>
            </a:avLst>
          </a:prstGeom>
          <a:solidFill>
            <a:srgbClr val="1E293B">
              <a:alpha val="45000"/>
            </a:srgbClr>
          </a:solidFill>
          <a:ln w="12700">
            <a:solidFill>
              <a:srgbClr val="334155"/>
            </a:solidFill>
            <a:prstDash val="solid"/>
          </a:ln>
        </p:spPr>
      </p:sp>
      <p:sp>
        <p:nvSpPr>
          <p:cNvPr id="10" name="Shape 8"/>
          <p:cNvSpPr/>
          <p:nvPr/>
        </p:nvSpPr>
        <p:spPr>
          <a:xfrm>
            <a:off x="1097280" y="4210812"/>
            <a:ext cx="640080" cy="640080"/>
          </a:xfrm>
          <a:prstGeom prst="ellipse">
            <a:avLst/>
          </a:prstGeom>
          <a:solidFill>
            <a:srgbClr val="3B82F6">
              <a:alpha val="85000"/>
            </a:srgbClr>
          </a:solidFill>
          <a:ln w="12700">
            <a:solidFill>
              <a:srgbClr val="60A5FA"/>
            </a:solidFill>
            <a:prstDash val="solid"/>
          </a:ln>
        </p:spPr>
      </p:sp>
      <p:sp>
        <p:nvSpPr>
          <p:cNvPr id="11" name="Text 9"/>
          <p:cNvSpPr txBox="1"/>
          <p:nvPr/>
        </p:nvSpPr>
        <p:spPr>
          <a:xfrm>
            <a:off x="1097280" y="4210812"/>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Fraunces" pitchFamily="34" charset="0"/>
                <a:ea typeface="Fraunces" pitchFamily="34" charset="-122"/>
                <a:cs typeface="Fraunces" pitchFamily="34" charset="-120"/>
              </a:rPr>
              <a:t>2</a:t>
            </a:r>
            <a:endParaRPr lang="en-US" sz="2400" dirty="0"/>
          </a:p>
        </p:txBody>
      </p:sp>
      <p:sp>
        <p:nvSpPr>
          <p:cNvPr id="12" name="Text 10"/>
          <p:cNvSpPr txBox="1"/>
          <p:nvPr/>
        </p:nvSpPr>
        <p:spPr>
          <a:xfrm>
            <a:off x="2011680" y="4142232"/>
            <a:ext cx="9052560" cy="411480"/>
          </a:xfrm>
          <a:prstGeom prst="rect">
            <a:avLst/>
          </a:prstGeom>
          <a:noFill/>
          <a:ln/>
        </p:spPr>
        <p:txBody>
          <a:bodyPr wrap="square" lIns="0" tIns="0" rIns="0" bIns="0" rtlCol="0" anchor="ctr"/>
          <a:lstStyle/>
          <a:p>
            <a:pPr algn="l" indent="0" marL="0">
              <a:buNone/>
            </a:pPr>
            <a:r>
              <a:rPr lang="en-US" sz="2000" b="1" dirty="0">
                <a:solidFill>
                  <a:srgbClr val="FFFFFF"/>
                </a:solidFill>
                <a:latin typeface="Fraunces" pitchFamily="34" charset="0"/>
                <a:ea typeface="Fraunces" pitchFamily="34" charset="-122"/>
                <a:cs typeface="Fraunces" pitchFamily="34" charset="-120"/>
              </a:rPr>
              <a:t>We build it for their practice, they own it</a:t>
            </a:r>
            <a:endParaRPr lang="en-US" sz="2000" dirty="0"/>
          </a:p>
        </p:txBody>
      </p:sp>
      <p:sp>
        <p:nvSpPr>
          <p:cNvPr id="13" name="Text 11"/>
          <p:cNvSpPr txBox="1"/>
          <p:nvPr/>
        </p:nvSpPr>
        <p:spPr>
          <a:xfrm>
            <a:off x="2011680" y="4544568"/>
            <a:ext cx="9052560" cy="457200"/>
          </a:xfrm>
          <a:prstGeom prst="rect">
            <a:avLst/>
          </a:prstGeom>
          <a:noFill/>
          <a:ln/>
        </p:spPr>
        <p:txBody>
          <a:bodyPr wrap="square" lIns="0" tIns="0" rIns="0" bIns="0" rtlCol="0" anchor="t"/>
          <a:lstStyle/>
          <a:p>
            <a:pPr algn="l" indent="0" marL="0">
              <a:lnSpc>
                <a:spcPct val="105000"/>
              </a:lnSpc>
              <a:buNone/>
            </a:pPr>
            <a:r>
              <a:rPr lang="en-US" sz="1450" dirty="0">
                <a:solidFill>
                  <a:srgbClr val="94A3B8"/>
                </a:solidFill>
                <a:latin typeface="Nunito" pitchFamily="34" charset="0"/>
                <a:ea typeface="Nunito" pitchFamily="34" charset="-122"/>
                <a:cs typeface="Nunito" pitchFamily="34" charset="-120"/>
              </a:rPr>
              <a:t>One system they use across their whole client base. It becomes a referral engine for us.</a:t>
            </a:r>
            <a:endParaRPr lang="en-US" sz="1450" dirty="0"/>
          </a:p>
        </p:txBody>
      </p:sp>
      <p:sp>
        <p:nvSpPr>
          <p:cNvPr id="14" name="Shape 12"/>
          <p:cNvSpPr/>
          <p:nvPr/>
        </p:nvSpPr>
        <p:spPr>
          <a:xfrm>
            <a:off x="777240" y="5266944"/>
            <a:ext cx="10607040" cy="1143000"/>
          </a:xfrm>
          <a:prstGeom prst="roundRect">
            <a:avLst>
              <a:gd name="adj" fmla="val 9600"/>
            </a:avLst>
          </a:prstGeom>
          <a:solidFill>
            <a:srgbClr val="1E293B">
              <a:alpha val="45000"/>
            </a:srgbClr>
          </a:solidFill>
          <a:ln w="12700">
            <a:solidFill>
              <a:srgbClr val="334155"/>
            </a:solidFill>
            <a:prstDash val="solid"/>
          </a:ln>
        </p:spPr>
      </p:sp>
      <p:sp>
        <p:nvSpPr>
          <p:cNvPr id="15" name="Shape 13"/>
          <p:cNvSpPr/>
          <p:nvPr/>
        </p:nvSpPr>
        <p:spPr>
          <a:xfrm>
            <a:off x="1097280" y="5518404"/>
            <a:ext cx="640080" cy="640080"/>
          </a:xfrm>
          <a:prstGeom prst="ellipse">
            <a:avLst/>
          </a:prstGeom>
          <a:solidFill>
            <a:srgbClr val="3B82F6">
              <a:alpha val="85000"/>
            </a:srgbClr>
          </a:solidFill>
          <a:ln w="12700">
            <a:solidFill>
              <a:srgbClr val="60A5FA"/>
            </a:solidFill>
            <a:prstDash val="solid"/>
          </a:ln>
        </p:spPr>
      </p:sp>
      <p:sp>
        <p:nvSpPr>
          <p:cNvPr id="16" name="Text 14"/>
          <p:cNvSpPr txBox="1"/>
          <p:nvPr/>
        </p:nvSpPr>
        <p:spPr>
          <a:xfrm>
            <a:off x="1097280" y="5518404"/>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Fraunces" pitchFamily="34" charset="0"/>
                <a:ea typeface="Fraunces" pitchFamily="34" charset="-122"/>
                <a:cs typeface="Fraunces" pitchFamily="34" charset="-120"/>
              </a:rPr>
              <a:t>3</a:t>
            </a:r>
            <a:endParaRPr lang="en-US" sz="2400" dirty="0"/>
          </a:p>
        </p:txBody>
      </p:sp>
      <p:sp>
        <p:nvSpPr>
          <p:cNvPr id="17" name="Text 15"/>
          <p:cNvSpPr txBox="1"/>
          <p:nvPr/>
        </p:nvSpPr>
        <p:spPr>
          <a:xfrm>
            <a:off x="2011680" y="5449824"/>
            <a:ext cx="9052560" cy="411480"/>
          </a:xfrm>
          <a:prstGeom prst="rect">
            <a:avLst/>
          </a:prstGeom>
          <a:noFill/>
          <a:ln/>
        </p:spPr>
        <p:txBody>
          <a:bodyPr wrap="square" lIns="0" tIns="0" rIns="0" bIns="0" rtlCol="0" anchor="ctr"/>
          <a:lstStyle/>
          <a:p>
            <a:pPr algn="l" indent="0" marL="0">
              <a:buNone/>
            </a:pPr>
            <a:r>
              <a:rPr lang="en-US" sz="2000" b="1" dirty="0">
                <a:solidFill>
                  <a:srgbClr val="FFFFFF"/>
                </a:solidFill>
                <a:latin typeface="Fraunces" pitchFamily="34" charset="0"/>
                <a:ea typeface="Fraunces" pitchFamily="34" charset="-122"/>
                <a:cs typeface="Fraunces" pitchFamily="34" charset="-120"/>
              </a:rPr>
              <a:t>The client never even sees the tool</a:t>
            </a:r>
            <a:endParaRPr lang="en-US" sz="2000" dirty="0"/>
          </a:p>
        </p:txBody>
      </p:sp>
      <p:sp>
        <p:nvSpPr>
          <p:cNvPr id="18" name="Text 16"/>
          <p:cNvSpPr txBox="1"/>
          <p:nvPr/>
        </p:nvSpPr>
        <p:spPr>
          <a:xfrm>
            <a:off x="2011680" y="5852160"/>
            <a:ext cx="9052560" cy="457200"/>
          </a:xfrm>
          <a:prstGeom prst="rect">
            <a:avLst/>
          </a:prstGeom>
          <a:noFill/>
          <a:ln/>
        </p:spPr>
        <p:txBody>
          <a:bodyPr wrap="square" lIns="0" tIns="0" rIns="0" bIns="0" rtlCol="0" anchor="t"/>
          <a:lstStyle/>
          <a:p>
            <a:pPr algn="l" indent="0" marL="0">
              <a:lnSpc>
                <a:spcPct val="105000"/>
              </a:lnSpc>
              <a:buNone/>
            </a:pPr>
            <a:r>
              <a:rPr lang="en-US" sz="1450" dirty="0">
                <a:solidFill>
                  <a:srgbClr val="94A3B8"/>
                </a:solidFill>
                <a:latin typeface="Nunito" pitchFamily="34" charset="0"/>
                <a:ea typeface="Nunito" pitchFamily="34" charset="-122"/>
                <a:cs typeface="Nunito" pitchFamily="34" charset="-120"/>
              </a:rPr>
              <a:t>The practice is the buyer. The underlying business usually never has to know it exists.</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pic>
        <p:nvPicPr>
          <p:cNvPr id="2" name="Image 0" descr="glow.png">    </p:cNvPr>
          <p:cNvPicPr>
            <a:picLocks noChangeAspect="1"/>
          </p:cNvPicPr>
          <p:nvPr/>
        </p:nvPicPr>
        <p:blipFill>
          <a:blip r:embed="rId1">
            <a:alphaModFix amt="75000"/>
          </a:blip>
          <a:stretch>
            <a:fillRect/>
          </a:stretch>
        </p:blipFill>
        <p:spPr>
          <a:xfrm>
            <a:off x="2377440" y="-1097280"/>
            <a:ext cx="7315200" cy="7315200"/>
          </a:xfrm>
          <a:prstGeom prst="rect">
            <a:avLst/>
          </a:prstGeom>
        </p:spPr>
      </p:pic>
      <p:pic>
        <p:nvPicPr>
          <p:cNvPr id="3" name="Image 1" descr="glow.png">    </p:cNvPr>
          <p:cNvPicPr>
            <a:picLocks noChangeAspect="1"/>
          </p:cNvPicPr>
          <p:nvPr/>
        </p:nvPicPr>
        <p:blipFill>
          <a:blip r:embed="rId2">
            <a:alphaModFix amt="55000"/>
          </a:blip>
          <a:stretch>
            <a:fillRect/>
          </a:stretch>
        </p:blipFill>
        <p:spPr>
          <a:xfrm>
            <a:off x="5669280" y="2011680"/>
            <a:ext cx="6858000" cy="6858000"/>
          </a:xfrm>
          <a:prstGeom prst="rect">
            <a:avLst/>
          </a:prstGeom>
        </p:spPr>
      </p:pic>
      <p:sp>
        <p:nvSpPr>
          <p:cNvPr id="4" name="Text 0"/>
          <p:cNvSpPr txBox="1"/>
          <p:nvPr/>
        </p:nvSpPr>
        <p:spPr>
          <a:xfrm>
            <a:off x="0" y="1051560"/>
            <a:ext cx="12191695" cy="457200"/>
          </a:xfrm>
          <a:prstGeom prst="rect">
            <a:avLst/>
          </a:prstGeom>
          <a:noFill/>
          <a:ln/>
        </p:spPr>
        <p:txBody>
          <a:bodyPr wrap="square" lIns="0" tIns="0" rIns="0" bIns="0" rtlCol="0" anchor="ctr"/>
          <a:lstStyle/>
          <a:p>
            <a:pPr algn="ctr" indent="0" marL="0">
              <a:buNone/>
            </a:pPr>
            <a:r>
              <a:rPr lang="en-US" sz="1600" b="1" spc="500" kern="0" dirty="0">
                <a:solidFill>
                  <a:srgbClr val="60A5FA"/>
                </a:solidFill>
                <a:latin typeface="Nunito" pitchFamily="34" charset="0"/>
                <a:ea typeface="Nunito" pitchFamily="34" charset="-122"/>
                <a:cs typeface="Nunito" pitchFamily="34" charset="-120"/>
              </a:rPr>
              <a:t>THE ASK</a:t>
            </a:r>
            <a:endParaRPr lang="en-US" sz="1600" dirty="0"/>
          </a:p>
        </p:txBody>
      </p:sp>
      <p:sp>
        <p:nvSpPr>
          <p:cNvPr id="5" name="Text 1"/>
          <p:cNvSpPr txBox="1"/>
          <p:nvPr/>
        </p:nvSpPr>
        <p:spPr>
          <a:xfrm>
            <a:off x="914400" y="1965960"/>
            <a:ext cx="10360152" cy="3291840"/>
          </a:xfrm>
          <a:prstGeom prst="rect">
            <a:avLst/>
          </a:prstGeom>
          <a:noFill/>
          <a:ln/>
        </p:spPr>
        <p:txBody>
          <a:bodyPr wrap="square" lIns="0" tIns="0" rIns="0" bIns="0" rtlCol="0" anchor="ctr"/>
          <a:lstStyle/>
          <a:p>
            <a:pPr algn="ctr" indent="0" marL="0">
              <a:lnSpc>
                <a:spcPct val="108000"/>
              </a:lnSpc>
              <a:buNone/>
            </a:pPr>
            <a:r>
              <a:rPr lang="en-US" sz="4800" b="1" dirty="0">
                <a:solidFill>
                  <a:srgbClr val="FFFFFF"/>
                </a:solidFill>
                <a:latin typeface="Fraunces" pitchFamily="34" charset="0"/>
                <a:ea typeface="Fraunces" pitchFamily="34" charset="-122"/>
                <a:cs typeface="Fraunces" pitchFamily="34" charset="-120"/>
              </a:rPr>
              <a:t>If you work with, or know, a </a:t>
            </a:r>
            <a:pPr algn="ctr" indent="0" marL="0">
              <a:lnSpc>
                <a:spcPct val="108000"/>
              </a:lnSpc>
              <a:buNone/>
            </a:pPr>
            <a:r>
              <a:rPr lang="en-US" sz="4800" b="1" dirty="0">
                <a:solidFill>
                  <a:srgbClr val="60A5FA"/>
                </a:solidFill>
                <a:latin typeface="Fraunces" pitchFamily="34" charset="0"/>
                <a:ea typeface="Fraunces" pitchFamily="34" charset="-122"/>
                <a:cs typeface="Fraunces" pitchFamily="34" charset="-120"/>
              </a:rPr>
              <a:t>bookkeeper or fractional CFO</a:t>
            </a:r>
            <a:pPr algn="ctr" indent="0" marL="0">
              <a:lnSpc>
                <a:spcPct val="108000"/>
              </a:lnSpc>
              <a:buNone/>
            </a:pPr>
            <a:r>
              <a:rPr lang="en-US" sz="4800" b="1" dirty="0">
                <a:solidFill>
                  <a:srgbClr val="FFFFFF"/>
                </a:solidFill>
                <a:latin typeface="Fraunces" pitchFamily="34" charset="0"/>
                <a:ea typeface="Fraunces" pitchFamily="34" charset="-122"/>
                <a:cs typeface="Fraunces" pitchFamily="34" charset="-120"/>
              </a:rPr>
              <a:t> in Charlotte, I'd love an introduction </a:t>
            </a:r>
            <a:pPr algn="ctr" indent="0" marL="0">
              <a:lnSpc>
                <a:spcPct val="108000"/>
              </a:lnSpc>
              <a:buNone/>
            </a:pPr>
            <a:r>
              <a:rPr lang="en-US" sz="4800" b="1" i="1" dirty="0">
                <a:solidFill>
                  <a:srgbClr val="818CF8"/>
                </a:solidFill>
                <a:latin typeface="Fraunces" pitchFamily="34" charset="0"/>
                <a:ea typeface="Fraunces" pitchFamily="34" charset="-122"/>
                <a:cs typeface="Fraunces" pitchFamily="34" charset="-120"/>
              </a:rPr>
              <a:t>this week.</a:t>
            </a:r>
            <a:endParaRPr lang="en-US" sz="4800" dirty="0"/>
          </a:p>
        </p:txBody>
      </p:sp>
      <p:sp>
        <p:nvSpPr>
          <p:cNvPr id="6" name="Text 2"/>
          <p:cNvSpPr txBox="1"/>
          <p:nvPr/>
        </p:nvSpPr>
        <p:spPr>
          <a:xfrm>
            <a:off x="1371600" y="5532120"/>
            <a:ext cx="9445752" cy="548640"/>
          </a:xfrm>
          <a:prstGeom prst="rect">
            <a:avLst/>
          </a:prstGeom>
          <a:noFill/>
          <a:ln/>
        </p:spPr>
        <p:txBody>
          <a:bodyPr wrap="square" lIns="0" tIns="0" rIns="0" bIns="0" rtlCol="0" anchor="ctr"/>
          <a:lstStyle/>
          <a:p>
            <a:pPr algn="ctr" indent="0" marL="0">
              <a:buNone/>
            </a:pPr>
            <a:r>
              <a:rPr lang="en-US" sz="1800" i="1" dirty="0">
                <a:solidFill>
                  <a:srgbClr val="94A3B8"/>
                </a:solidFill>
                <a:latin typeface="Nunito" pitchFamily="34" charset="0"/>
                <a:ea typeface="Nunito" pitchFamily="34" charset="-122"/>
                <a:cs typeface="Nunito" pitchFamily="34" charset="-120"/>
              </a:rPr>
              <a:t>If you already trust one, they're probably drowning in the exact manual work I fix.</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777240" y="640080"/>
            <a:ext cx="7315200" cy="320040"/>
          </a:xfrm>
          <a:prstGeom prst="rect">
            <a:avLst/>
          </a:prstGeom>
          <a:noFill/>
          <a:ln/>
        </p:spPr>
        <p:txBody>
          <a:bodyPr wrap="square" lIns="0" tIns="0" rIns="0" bIns="0" rtlCol="0" anchor="ctr"/>
          <a:lstStyle/>
          <a:p>
            <a:pPr algn="l" indent="0" marL="0">
              <a:buNone/>
            </a:pPr>
            <a:r>
              <a:rPr lang="en-US" sz="1300" b="1" spc="300" kern="0" dirty="0">
                <a:solidFill>
                  <a:srgbClr val="60A5FA"/>
                </a:solidFill>
                <a:latin typeface="Nunito" pitchFamily="34" charset="0"/>
                <a:ea typeface="Nunito" pitchFamily="34" charset="-122"/>
                <a:cs typeface="Nunito" pitchFamily="34" charset="-120"/>
              </a:rPr>
              <a:t>HOW TO MAKE IT HAPPEN</a:t>
            </a:r>
            <a:endParaRPr lang="en-US" sz="1300" dirty="0"/>
          </a:p>
        </p:txBody>
      </p:sp>
      <p:sp>
        <p:nvSpPr>
          <p:cNvPr id="3" name="Text 1"/>
          <p:cNvSpPr txBox="1"/>
          <p:nvPr/>
        </p:nvSpPr>
        <p:spPr>
          <a:xfrm>
            <a:off x="777240" y="1097280"/>
            <a:ext cx="7315200" cy="640080"/>
          </a:xfrm>
          <a:prstGeom prst="rect">
            <a:avLst/>
          </a:prstGeom>
          <a:noFill/>
          <a:ln/>
        </p:spPr>
        <p:txBody>
          <a:bodyPr wrap="square" lIns="0" tIns="0" rIns="0" bIns="0" rtlCol="0" anchor="t"/>
          <a:lstStyle/>
          <a:p>
            <a:pPr algn="l" indent="0" marL="0">
              <a:buNone/>
            </a:pPr>
            <a:r>
              <a:rPr lang="en-US" sz="3000" b="1" dirty="0">
                <a:solidFill>
                  <a:srgbClr val="FFFFFF"/>
                </a:solidFill>
                <a:latin typeface="Fraunces" pitchFamily="34" charset="0"/>
                <a:ea typeface="Fraunces" pitchFamily="34" charset="-122"/>
                <a:cs typeface="Fraunces" pitchFamily="34" charset="-120"/>
              </a:rPr>
              <a:t>One text or email is all it takes.</a:t>
            </a:r>
            <a:endParaRPr lang="en-US" sz="3000" dirty="0"/>
          </a:p>
        </p:txBody>
      </p:sp>
      <p:sp>
        <p:nvSpPr>
          <p:cNvPr id="4" name="Shape 2"/>
          <p:cNvSpPr/>
          <p:nvPr/>
        </p:nvSpPr>
        <p:spPr>
          <a:xfrm>
            <a:off x="777240" y="2148840"/>
            <a:ext cx="6675120" cy="960120"/>
          </a:xfrm>
          <a:prstGeom prst="roundRect">
            <a:avLst>
              <a:gd name="adj" fmla="val 11429"/>
            </a:avLst>
          </a:prstGeom>
          <a:solidFill>
            <a:srgbClr val="1E293B">
              <a:alpha val="45000"/>
            </a:srgbClr>
          </a:solidFill>
          <a:ln w="12700">
            <a:solidFill>
              <a:srgbClr val="334155"/>
            </a:solidFill>
            <a:prstDash val="solid"/>
          </a:ln>
        </p:spPr>
      </p:sp>
      <p:sp>
        <p:nvSpPr>
          <p:cNvPr id="5" name="Shape 3"/>
          <p:cNvSpPr/>
          <p:nvPr/>
        </p:nvSpPr>
        <p:spPr>
          <a:xfrm>
            <a:off x="1051560" y="2354580"/>
            <a:ext cx="548640" cy="548640"/>
          </a:xfrm>
          <a:prstGeom prst="ellipse">
            <a:avLst/>
          </a:prstGeom>
          <a:solidFill>
            <a:srgbClr val="3B82F6">
              <a:alpha val="85000"/>
            </a:srgbClr>
          </a:solidFill>
          <a:ln w="12700">
            <a:solidFill>
              <a:srgbClr val="60A5FA"/>
            </a:solidFill>
            <a:prstDash val="solid"/>
          </a:ln>
        </p:spPr>
      </p:sp>
      <p:sp>
        <p:nvSpPr>
          <p:cNvPr id="6" name="Text 4"/>
          <p:cNvSpPr txBox="1"/>
          <p:nvPr/>
        </p:nvSpPr>
        <p:spPr>
          <a:xfrm>
            <a:off x="1051560" y="23545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Fraunces" pitchFamily="34" charset="0"/>
                <a:ea typeface="Fraunces" pitchFamily="34" charset="-122"/>
                <a:cs typeface="Fraunces" pitchFamily="34" charset="-120"/>
              </a:rPr>
              <a:t>1</a:t>
            </a:r>
            <a:endParaRPr lang="en-US" sz="2000" dirty="0"/>
          </a:p>
        </p:txBody>
      </p:sp>
      <p:sp>
        <p:nvSpPr>
          <p:cNvPr id="7" name="Text 5"/>
          <p:cNvSpPr txBox="1"/>
          <p:nvPr/>
        </p:nvSpPr>
        <p:spPr>
          <a:xfrm>
            <a:off x="1828800" y="2295144"/>
            <a:ext cx="5394960" cy="365760"/>
          </a:xfrm>
          <a:prstGeom prst="rect">
            <a:avLst/>
          </a:prstGeom>
          <a:noFill/>
          <a:ln/>
        </p:spPr>
        <p:txBody>
          <a:bodyPr wrap="square" lIns="0" tIns="0" rIns="0" bIns="0" rtlCol="0" anchor="ctr"/>
          <a:lstStyle/>
          <a:p>
            <a:pPr algn="l" indent="0" marL="0">
              <a:buNone/>
            </a:pPr>
            <a:r>
              <a:rPr lang="en-US" sz="1800" b="1" dirty="0">
                <a:solidFill>
                  <a:srgbClr val="FFFFFF"/>
                </a:solidFill>
                <a:latin typeface="Fraunces" pitchFamily="34" charset="0"/>
                <a:ea typeface="Fraunces" pitchFamily="34" charset="-122"/>
                <a:cs typeface="Fraunces" pitchFamily="34" charset="-120"/>
              </a:rPr>
              <a:t>Text or email an intro</a:t>
            </a:r>
            <a:endParaRPr lang="en-US" sz="1800" dirty="0"/>
          </a:p>
        </p:txBody>
      </p:sp>
      <p:sp>
        <p:nvSpPr>
          <p:cNvPr id="8" name="Text 6"/>
          <p:cNvSpPr txBox="1"/>
          <p:nvPr/>
        </p:nvSpPr>
        <p:spPr>
          <a:xfrm>
            <a:off x="1828800" y="2651760"/>
            <a:ext cx="5394960" cy="384048"/>
          </a:xfrm>
          <a:prstGeom prst="rect">
            <a:avLst/>
          </a:prstGeom>
          <a:noFill/>
          <a:ln/>
        </p:spPr>
        <p:txBody>
          <a:bodyPr wrap="square" lIns="0" tIns="0" rIns="0" bIns="0" rtlCol="0" anchor="t"/>
          <a:lstStyle/>
          <a:p>
            <a:pPr algn="l" indent="0" marL="0">
              <a:lnSpc>
                <a:spcPct val="102000"/>
              </a:lnSpc>
              <a:buNone/>
            </a:pPr>
            <a:r>
              <a:rPr lang="en-US" sz="1350" dirty="0">
                <a:solidFill>
                  <a:srgbClr val="94A3B8"/>
                </a:solidFill>
                <a:latin typeface="Nunito" pitchFamily="34" charset="0"/>
                <a:ea typeface="Nunito" pitchFamily="34" charset="-122"/>
                <a:cs typeface="Nunito" pitchFamily="34" charset="-120"/>
              </a:rPr>
              <a:t>Send a quick note connecting us. A double opt-in intro is perfect.</a:t>
            </a:r>
            <a:endParaRPr lang="en-US" sz="1350" dirty="0"/>
          </a:p>
        </p:txBody>
      </p:sp>
      <p:sp>
        <p:nvSpPr>
          <p:cNvPr id="9" name="Shape 7"/>
          <p:cNvSpPr/>
          <p:nvPr/>
        </p:nvSpPr>
        <p:spPr>
          <a:xfrm>
            <a:off x="777240" y="3310128"/>
            <a:ext cx="6675120" cy="960120"/>
          </a:xfrm>
          <a:prstGeom prst="roundRect">
            <a:avLst>
              <a:gd name="adj" fmla="val 11429"/>
            </a:avLst>
          </a:prstGeom>
          <a:solidFill>
            <a:srgbClr val="1E293B">
              <a:alpha val="45000"/>
            </a:srgbClr>
          </a:solidFill>
          <a:ln w="12700">
            <a:solidFill>
              <a:srgbClr val="334155"/>
            </a:solidFill>
            <a:prstDash val="solid"/>
          </a:ln>
        </p:spPr>
      </p:sp>
      <p:sp>
        <p:nvSpPr>
          <p:cNvPr id="10" name="Shape 8"/>
          <p:cNvSpPr/>
          <p:nvPr/>
        </p:nvSpPr>
        <p:spPr>
          <a:xfrm>
            <a:off x="1051560" y="3515868"/>
            <a:ext cx="548640" cy="548640"/>
          </a:xfrm>
          <a:prstGeom prst="ellipse">
            <a:avLst/>
          </a:prstGeom>
          <a:solidFill>
            <a:srgbClr val="3B82F6">
              <a:alpha val="85000"/>
            </a:srgbClr>
          </a:solidFill>
          <a:ln w="12700">
            <a:solidFill>
              <a:srgbClr val="60A5FA"/>
            </a:solidFill>
            <a:prstDash val="solid"/>
          </a:ln>
        </p:spPr>
      </p:sp>
      <p:sp>
        <p:nvSpPr>
          <p:cNvPr id="11" name="Text 9"/>
          <p:cNvSpPr txBox="1"/>
          <p:nvPr/>
        </p:nvSpPr>
        <p:spPr>
          <a:xfrm>
            <a:off x="1051560" y="351586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Fraunces" pitchFamily="34" charset="0"/>
                <a:ea typeface="Fraunces" pitchFamily="34" charset="-122"/>
                <a:cs typeface="Fraunces" pitchFamily="34" charset="-120"/>
              </a:rPr>
              <a:t>2</a:t>
            </a:r>
            <a:endParaRPr lang="en-US" sz="2000" dirty="0"/>
          </a:p>
        </p:txBody>
      </p:sp>
      <p:sp>
        <p:nvSpPr>
          <p:cNvPr id="12" name="Text 10"/>
          <p:cNvSpPr txBox="1"/>
          <p:nvPr/>
        </p:nvSpPr>
        <p:spPr>
          <a:xfrm>
            <a:off x="1828800" y="3456432"/>
            <a:ext cx="5394960" cy="365760"/>
          </a:xfrm>
          <a:prstGeom prst="rect">
            <a:avLst/>
          </a:prstGeom>
          <a:noFill/>
          <a:ln/>
        </p:spPr>
        <p:txBody>
          <a:bodyPr wrap="square" lIns="0" tIns="0" rIns="0" bIns="0" rtlCol="0" anchor="ctr"/>
          <a:lstStyle/>
          <a:p>
            <a:pPr algn="l" indent="0" marL="0">
              <a:buNone/>
            </a:pPr>
            <a:r>
              <a:rPr lang="en-US" sz="1800" b="1" dirty="0">
                <a:solidFill>
                  <a:srgbClr val="FFFFFF"/>
                </a:solidFill>
                <a:latin typeface="Fraunces" pitchFamily="34" charset="0"/>
                <a:ea typeface="Fraunces" pitchFamily="34" charset="-122"/>
                <a:cs typeface="Fraunces" pitchFamily="34" charset="-120"/>
              </a:rPr>
              <a:t>Bring them to coffee</a:t>
            </a:r>
            <a:endParaRPr lang="en-US" sz="1800" dirty="0"/>
          </a:p>
        </p:txBody>
      </p:sp>
      <p:sp>
        <p:nvSpPr>
          <p:cNvPr id="13" name="Text 11"/>
          <p:cNvSpPr txBox="1"/>
          <p:nvPr/>
        </p:nvSpPr>
        <p:spPr>
          <a:xfrm>
            <a:off x="1828800" y="3813048"/>
            <a:ext cx="5394960" cy="384048"/>
          </a:xfrm>
          <a:prstGeom prst="rect">
            <a:avLst/>
          </a:prstGeom>
          <a:noFill/>
          <a:ln/>
        </p:spPr>
        <p:txBody>
          <a:bodyPr wrap="square" lIns="0" tIns="0" rIns="0" bIns="0" rtlCol="0" anchor="t"/>
          <a:lstStyle/>
          <a:p>
            <a:pPr algn="l" indent="0" marL="0">
              <a:lnSpc>
                <a:spcPct val="102000"/>
              </a:lnSpc>
              <a:buNone/>
            </a:pPr>
            <a:r>
              <a:rPr lang="en-US" sz="1350" dirty="0">
                <a:solidFill>
                  <a:srgbClr val="94A3B8"/>
                </a:solidFill>
                <a:latin typeface="Nunito" pitchFamily="34" charset="0"/>
                <a:ea typeface="Nunito" pitchFamily="34" charset="-122"/>
                <a:cs typeface="Nunito" pitchFamily="34" charset="-120"/>
              </a:rPr>
              <a:t>If it's easier, introduce us in person. I'll make it worth the 20 minutes.</a:t>
            </a:r>
            <a:endParaRPr lang="en-US" sz="1350" dirty="0"/>
          </a:p>
        </p:txBody>
      </p:sp>
      <p:sp>
        <p:nvSpPr>
          <p:cNvPr id="14" name="Shape 12"/>
          <p:cNvSpPr/>
          <p:nvPr/>
        </p:nvSpPr>
        <p:spPr>
          <a:xfrm>
            <a:off x="777240" y="4471416"/>
            <a:ext cx="6675120" cy="960120"/>
          </a:xfrm>
          <a:prstGeom prst="roundRect">
            <a:avLst>
              <a:gd name="adj" fmla="val 11429"/>
            </a:avLst>
          </a:prstGeom>
          <a:solidFill>
            <a:srgbClr val="1E293B">
              <a:alpha val="45000"/>
            </a:srgbClr>
          </a:solidFill>
          <a:ln w="12700">
            <a:solidFill>
              <a:srgbClr val="334155"/>
            </a:solidFill>
            <a:prstDash val="solid"/>
          </a:ln>
        </p:spPr>
      </p:sp>
      <p:sp>
        <p:nvSpPr>
          <p:cNvPr id="15" name="Shape 13"/>
          <p:cNvSpPr/>
          <p:nvPr/>
        </p:nvSpPr>
        <p:spPr>
          <a:xfrm>
            <a:off x="1051560" y="4677156"/>
            <a:ext cx="548640" cy="548640"/>
          </a:xfrm>
          <a:prstGeom prst="ellipse">
            <a:avLst/>
          </a:prstGeom>
          <a:solidFill>
            <a:srgbClr val="3B82F6">
              <a:alpha val="85000"/>
            </a:srgbClr>
          </a:solidFill>
          <a:ln w="12700">
            <a:solidFill>
              <a:srgbClr val="60A5FA"/>
            </a:solidFill>
            <a:prstDash val="solid"/>
          </a:ln>
        </p:spPr>
      </p:sp>
      <p:sp>
        <p:nvSpPr>
          <p:cNvPr id="16" name="Text 14"/>
          <p:cNvSpPr txBox="1"/>
          <p:nvPr/>
        </p:nvSpPr>
        <p:spPr>
          <a:xfrm>
            <a:off x="1051560" y="4677156"/>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Fraunces" pitchFamily="34" charset="0"/>
                <a:ea typeface="Fraunces" pitchFamily="34" charset="-122"/>
                <a:cs typeface="Fraunces" pitchFamily="34" charset="-120"/>
              </a:rPr>
              <a:t>3</a:t>
            </a:r>
            <a:endParaRPr lang="en-US" sz="2000" dirty="0"/>
          </a:p>
        </p:txBody>
      </p:sp>
      <p:sp>
        <p:nvSpPr>
          <p:cNvPr id="17" name="Text 15"/>
          <p:cNvSpPr txBox="1"/>
          <p:nvPr/>
        </p:nvSpPr>
        <p:spPr>
          <a:xfrm>
            <a:off x="1828800" y="4617720"/>
            <a:ext cx="5394960" cy="365760"/>
          </a:xfrm>
          <a:prstGeom prst="rect">
            <a:avLst/>
          </a:prstGeom>
          <a:noFill/>
          <a:ln/>
        </p:spPr>
        <p:txBody>
          <a:bodyPr wrap="square" lIns="0" tIns="0" rIns="0" bIns="0" rtlCol="0" anchor="ctr"/>
          <a:lstStyle/>
          <a:p>
            <a:pPr algn="l" indent="0" marL="0">
              <a:buNone/>
            </a:pPr>
            <a:r>
              <a:rPr lang="en-US" sz="1800" b="1" dirty="0">
                <a:solidFill>
                  <a:srgbClr val="FFFFFF"/>
                </a:solidFill>
                <a:latin typeface="Fraunces" pitchFamily="34" charset="0"/>
                <a:ea typeface="Fraunces" pitchFamily="34" charset="-122"/>
                <a:cs typeface="Fraunces" pitchFamily="34" charset="-120"/>
              </a:rPr>
              <a:t>Point them to the site</a:t>
            </a:r>
            <a:endParaRPr lang="en-US" sz="1800" dirty="0"/>
          </a:p>
        </p:txBody>
      </p:sp>
      <p:sp>
        <p:nvSpPr>
          <p:cNvPr id="18" name="Text 16"/>
          <p:cNvSpPr txBox="1"/>
          <p:nvPr/>
        </p:nvSpPr>
        <p:spPr>
          <a:xfrm>
            <a:off x="1828800" y="4974336"/>
            <a:ext cx="5394960" cy="384048"/>
          </a:xfrm>
          <a:prstGeom prst="rect">
            <a:avLst/>
          </a:prstGeom>
          <a:noFill/>
          <a:ln/>
        </p:spPr>
        <p:txBody>
          <a:bodyPr wrap="square" lIns="0" tIns="0" rIns="0" bIns="0" rtlCol="0" anchor="t"/>
          <a:lstStyle/>
          <a:p>
            <a:pPr algn="l" indent="0" marL="0">
              <a:lnSpc>
                <a:spcPct val="102000"/>
              </a:lnSpc>
              <a:buNone/>
            </a:pPr>
            <a:r>
              <a:rPr lang="en-US" sz="1350" dirty="0">
                <a:solidFill>
                  <a:srgbClr val="94A3B8"/>
                </a:solidFill>
                <a:latin typeface="Nunito" pitchFamily="34" charset="0"/>
                <a:ea typeface="Nunito" pitchFamily="34" charset="-122"/>
                <a:cs typeface="Nunito" pitchFamily="34" charset="-120"/>
              </a:rPr>
              <a:t>Not sure yet? Send them to lunarlogic.ai to see the work first.</a:t>
            </a:r>
            <a:endParaRPr lang="en-US" sz="1350" dirty="0"/>
          </a:p>
        </p:txBody>
      </p:sp>
      <p:sp>
        <p:nvSpPr>
          <p:cNvPr id="19" name="Shape 17"/>
          <p:cNvSpPr/>
          <p:nvPr/>
        </p:nvSpPr>
        <p:spPr>
          <a:xfrm>
            <a:off x="7909560" y="2148840"/>
            <a:ext cx="3474720" cy="3529584"/>
          </a:xfrm>
          <a:prstGeom prst="roundRect">
            <a:avLst>
              <a:gd name="adj" fmla="val 3158"/>
            </a:avLst>
          </a:prstGeom>
          <a:solidFill>
            <a:srgbClr val="1E293B">
              <a:alpha val="45000"/>
            </a:srgbClr>
          </a:solidFill>
          <a:ln w="12700">
            <a:solidFill>
              <a:srgbClr val="334155"/>
            </a:solidFill>
            <a:prstDash val="solid"/>
          </a:ln>
        </p:spPr>
      </p:sp>
      <p:sp>
        <p:nvSpPr>
          <p:cNvPr id="20" name="Shape 18"/>
          <p:cNvSpPr/>
          <p:nvPr/>
        </p:nvSpPr>
        <p:spPr>
          <a:xfrm>
            <a:off x="8709660" y="2468880"/>
            <a:ext cx="1874520" cy="1874520"/>
          </a:xfrm>
          <a:prstGeom prst="roundRect">
            <a:avLst>
              <a:gd name="adj" fmla="val 3902"/>
            </a:avLst>
          </a:prstGeom>
          <a:solidFill>
            <a:srgbClr val="FFFFFF"/>
          </a:solidFill>
          <a:ln/>
        </p:spPr>
      </p:sp>
      <p:pic>
        <p:nvPicPr>
          <p:cNvPr id="21" name="Image 0" descr="qr.png">    </p:cNvPr>
          <p:cNvPicPr>
            <a:picLocks noChangeAspect="1"/>
          </p:cNvPicPr>
          <p:nvPr/>
        </p:nvPicPr>
        <p:blipFill>
          <a:blip r:embed="rId1"/>
          <a:stretch>
            <a:fillRect/>
          </a:stretch>
        </p:blipFill>
        <p:spPr>
          <a:xfrm>
            <a:off x="8801100" y="2560320"/>
            <a:ext cx="1691640" cy="1691640"/>
          </a:xfrm>
          <a:prstGeom prst="rect">
            <a:avLst/>
          </a:prstGeom>
        </p:spPr>
      </p:pic>
      <p:sp>
        <p:nvSpPr>
          <p:cNvPr id="22" name="Text 19"/>
          <p:cNvSpPr txBox="1"/>
          <p:nvPr/>
        </p:nvSpPr>
        <p:spPr>
          <a:xfrm>
            <a:off x="7909560" y="4434840"/>
            <a:ext cx="3474720" cy="320040"/>
          </a:xfrm>
          <a:prstGeom prst="rect">
            <a:avLst/>
          </a:prstGeom>
          <a:noFill/>
          <a:ln/>
        </p:spPr>
        <p:txBody>
          <a:bodyPr wrap="square" lIns="0" tIns="0" rIns="0" bIns="0" rtlCol="0" anchor="ctr"/>
          <a:lstStyle/>
          <a:p>
            <a:pPr algn="ctr" indent="0" marL="0">
              <a:buNone/>
            </a:pPr>
            <a:r>
              <a:rPr lang="en-US" sz="1300" b="1" spc="100" kern="0" dirty="0">
                <a:solidFill>
                  <a:srgbClr val="64748B"/>
                </a:solidFill>
                <a:latin typeface="Nunito" pitchFamily="34" charset="0"/>
                <a:ea typeface="Nunito" pitchFamily="34" charset="-122"/>
                <a:cs typeface="Nunito" pitchFamily="34" charset="-120"/>
              </a:rPr>
              <a:t>Scan for lunarlogic.ai</a:t>
            </a:r>
            <a:endParaRPr lang="en-US" sz="1300" dirty="0"/>
          </a:p>
        </p:txBody>
      </p:sp>
      <p:sp>
        <p:nvSpPr>
          <p:cNvPr id="23" name="Text 20"/>
          <p:cNvSpPr txBox="1"/>
          <p:nvPr/>
        </p:nvSpPr>
        <p:spPr>
          <a:xfrm>
            <a:off x="7909560" y="4800600"/>
            <a:ext cx="3474720" cy="777240"/>
          </a:xfrm>
          <a:prstGeom prst="rect">
            <a:avLst/>
          </a:prstGeom>
          <a:noFill/>
          <a:ln/>
        </p:spPr>
        <p:txBody>
          <a:bodyPr wrap="square" lIns="0" tIns="0" rIns="0" bIns="0" rtlCol="0" anchor="ctr"/>
          <a:lstStyle/>
          <a:p>
            <a:pPr algn="ctr" indent="0" marL="0">
              <a:lnSpc>
                <a:spcPct val="115000"/>
              </a:lnSpc>
              <a:buNone/>
            </a:pPr>
            <a:r>
              <a:rPr lang="en-US" sz="1600" b="1" dirty="0">
                <a:solidFill>
                  <a:srgbClr val="FFFFFF"/>
                </a:solidFill>
                <a:latin typeface="Nunito" pitchFamily="34" charset="0"/>
                <a:ea typeface="Nunito" pitchFamily="34" charset="-122"/>
                <a:cs typeface="Nunito" pitchFamily="34" charset="-120"/>
              </a:rPr>
              <a:t>jrodriguez@lunarlogic.ai
</a:t>
            </a:r>
            <a:pPr algn="ctr" indent="0" marL="0">
              <a:lnSpc>
                <a:spcPct val="115000"/>
              </a:lnSpc>
              <a:buNone/>
            </a:pPr>
            <a:r>
              <a:rPr lang="en-US" sz="1600" b="1" dirty="0">
                <a:solidFill>
                  <a:srgbClr val="60A5FA"/>
                </a:solidFill>
                <a:latin typeface="Nunito" pitchFamily="34" charset="0"/>
                <a:ea typeface="Nunito" pitchFamily="34" charset="-122"/>
                <a:cs typeface="Nunito" pitchFamily="34" charset="-120"/>
              </a:rPr>
              <a:t>lunarlogic.ai</a:t>
            </a:r>
            <a:endParaRPr lang="en-US" sz="1600" dirty="0"/>
          </a:p>
        </p:txBody>
      </p:sp>
      <p:pic>
        <p:nvPicPr>
          <p:cNvPr id="24" name="Image 1" descr="moon.png">    </p:cNvPr>
          <p:cNvPicPr>
            <a:picLocks noChangeAspect="1"/>
          </p:cNvPicPr>
          <p:nvPr/>
        </p:nvPicPr>
        <p:blipFill>
          <a:blip r:embed="rId2"/>
          <a:stretch>
            <a:fillRect/>
          </a:stretch>
        </p:blipFill>
        <p:spPr>
          <a:xfrm>
            <a:off x="777240" y="6149340"/>
            <a:ext cx="310896" cy="310896"/>
          </a:xfrm>
          <a:prstGeom prst="rect">
            <a:avLst/>
          </a:prstGeom>
        </p:spPr>
      </p:pic>
      <p:sp>
        <p:nvSpPr>
          <p:cNvPr id="25" name="Text 21"/>
          <p:cNvSpPr txBox="1"/>
          <p:nvPr/>
        </p:nvSpPr>
        <p:spPr>
          <a:xfrm>
            <a:off x="1175187" y="6172200"/>
            <a:ext cx="4572000" cy="457200"/>
          </a:xfrm>
          <a:prstGeom prst="rect">
            <a:avLst/>
          </a:prstGeom>
          <a:noFill/>
          <a:ln/>
        </p:spPr>
        <p:txBody>
          <a:bodyPr wrap="square" lIns="0" tIns="0" rIns="0" bIns="0" rtlCol="0" anchor="ctr"/>
          <a:lstStyle/>
          <a:p>
            <a:pPr algn="l" indent="0" marL="0">
              <a:buNone/>
            </a:pPr>
            <a:r>
              <a:rPr lang="en-US" sz="1800" b="1" dirty="0">
                <a:solidFill>
                  <a:srgbClr val="60A5FA"/>
                </a:solidFill>
                <a:latin typeface="Nunito" pitchFamily="34" charset="0"/>
                <a:ea typeface="Nunito" pitchFamily="34" charset="-122"/>
                <a:cs typeface="Nunito" pitchFamily="34" charset="-120"/>
              </a:rPr>
              <a:t>l</a:t>
            </a:r>
            <a:pPr algn="l" indent="0" marL="0">
              <a:buNone/>
            </a:pPr>
            <a:r>
              <a:rPr lang="en-US" sz="1800" b="1" dirty="0">
                <a:solidFill>
                  <a:srgbClr val="64A2FA"/>
                </a:solidFill>
                <a:latin typeface="Nunito" pitchFamily="34" charset="0"/>
                <a:ea typeface="Nunito" pitchFamily="34" charset="-122"/>
                <a:cs typeface="Nunito" pitchFamily="34" charset="-120"/>
              </a:rPr>
              <a:t>u</a:t>
            </a:r>
            <a:pPr algn="l" indent="0" marL="0">
              <a:buNone/>
            </a:pPr>
            <a:r>
              <a:rPr lang="en-US" sz="1800" b="1" dirty="0">
                <a:solidFill>
                  <a:srgbClr val="679FFA"/>
                </a:solidFill>
                <a:latin typeface="Nunito" pitchFamily="34" charset="0"/>
                <a:ea typeface="Nunito" pitchFamily="34" charset="-122"/>
                <a:cs typeface="Nunito" pitchFamily="34" charset="-120"/>
              </a:rPr>
              <a:t>n</a:t>
            </a:r>
            <a:pPr algn="l" indent="0" marL="0">
              <a:buNone/>
            </a:pPr>
            <a:r>
              <a:rPr lang="en-US" sz="1800" b="1" dirty="0">
                <a:solidFill>
                  <a:srgbClr val="6B9DF9"/>
                </a:solidFill>
                <a:latin typeface="Nunito" pitchFamily="34" charset="0"/>
                <a:ea typeface="Nunito" pitchFamily="34" charset="-122"/>
                <a:cs typeface="Nunito" pitchFamily="34" charset="-120"/>
              </a:rPr>
              <a:t>a</a:t>
            </a:r>
            <a:pPr algn="l" indent="0" marL="0">
              <a:buNone/>
            </a:pPr>
            <a:r>
              <a:rPr lang="en-US" sz="1800" b="1" dirty="0">
                <a:solidFill>
                  <a:srgbClr val="6F9AF9"/>
                </a:solidFill>
                <a:latin typeface="Nunito" pitchFamily="34" charset="0"/>
                <a:ea typeface="Nunito" pitchFamily="34" charset="-122"/>
                <a:cs typeface="Nunito" pitchFamily="34" charset="-120"/>
              </a:rPr>
              <a:t>r</a:t>
            </a:r>
            <a:pPr algn="l" indent="0" marL="0">
              <a:buNone/>
            </a:pPr>
            <a:r>
              <a:rPr lang="en-US" sz="1800" b="1" dirty="0">
                <a:solidFill>
                  <a:srgbClr val="7297F9"/>
                </a:solidFill>
                <a:latin typeface="Nunito" pitchFamily="34" charset="0"/>
                <a:ea typeface="Nunito" pitchFamily="34" charset="-122"/>
                <a:cs typeface="Nunito" pitchFamily="34" charset="-120"/>
              </a:rPr>
              <a:t>l</a:t>
            </a:r>
            <a:pPr algn="l" indent="0" marL="0">
              <a:buNone/>
            </a:pPr>
            <a:r>
              <a:rPr lang="en-US" sz="1800" b="1" dirty="0">
                <a:solidFill>
                  <a:srgbClr val="7694F9"/>
                </a:solidFill>
                <a:latin typeface="Nunito" pitchFamily="34" charset="0"/>
                <a:ea typeface="Nunito" pitchFamily="34" charset="-122"/>
                <a:cs typeface="Nunito" pitchFamily="34" charset="-120"/>
              </a:rPr>
              <a:t>o</a:t>
            </a:r>
            <a:pPr algn="l" indent="0" marL="0">
              <a:buNone/>
            </a:pPr>
            <a:r>
              <a:rPr lang="en-US" sz="1800" b="1" dirty="0">
                <a:solidFill>
                  <a:srgbClr val="7A92F8"/>
                </a:solidFill>
                <a:latin typeface="Nunito" pitchFamily="34" charset="0"/>
                <a:ea typeface="Nunito" pitchFamily="34" charset="-122"/>
                <a:cs typeface="Nunito" pitchFamily="34" charset="-120"/>
              </a:rPr>
              <a:t>g</a:t>
            </a:r>
            <a:pPr algn="l" indent="0" marL="0">
              <a:buNone/>
            </a:pPr>
            <a:r>
              <a:rPr lang="en-US" sz="1800" b="1" dirty="0">
                <a:solidFill>
                  <a:srgbClr val="7D8FF8"/>
                </a:solidFill>
                <a:latin typeface="Nunito" pitchFamily="34" charset="0"/>
                <a:ea typeface="Nunito" pitchFamily="34" charset="-122"/>
                <a:cs typeface="Nunito" pitchFamily="34" charset="-120"/>
              </a:rPr>
              <a:t>i</a:t>
            </a:r>
            <a:pPr algn="l" indent="0" marL="0">
              <a:buNone/>
            </a:pPr>
            <a:r>
              <a:rPr lang="en-US" sz="1800" b="1" dirty="0">
                <a:solidFill>
                  <a:srgbClr val="818CF8"/>
                </a:solidFill>
                <a:latin typeface="Nunito" pitchFamily="34" charset="0"/>
                <a:ea typeface="Nunito" pitchFamily="34" charset="-122"/>
                <a:cs typeface="Nunito" pitchFamily="34" charset="-120"/>
              </a:rPr>
              <a:t>c</a:t>
            </a:r>
            <a:pPr algn="l" indent="0" marL="0">
              <a:buNone/>
            </a:pPr>
            <a:r>
              <a:rPr lang="en-US" sz="1800" dirty="0">
                <a:solidFill>
                  <a:srgbClr val="FFFFFF">
                    <a:alpha val="70000"/>
                  </a:srgbClr>
                </a:solidFill>
                <a:latin typeface="Nunito" pitchFamily="34" charset="0"/>
                <a:ea typeface="Nunito" pitchFamily="34" charset="-122"/>
                <a:cs typeface="Nunito" pitchFamily="34" charset="-120"/>
              </a:rPr>
              <a:t>.ai</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pic>
        <p:nvPicPr>
          <p:cNvPr id="2" name="Image 0" descr="glow.png">    </p:cNvPr>
          <p:cNvPicPr>
            <a:picLocks noChangeAspect="1"/>
          </p:cNvPicPr>
          <p:nvPr/>
        </p:nvPicPr>
        <p:blipFill>
          <a:blip r:embed="rId1">
            <a:alphaModFix amt="62000"/>
          </a:blip>
          <a:stretch>
            <a:fillRect/>
          </a:stretch>
        </p:blipFill>
        <p:spPr>
          <a:xfrm>
            <a:off x="-2926080" y="-2743200"/>
            <a:ext cx="6858000" cy="6858000"/>
          </a:xfrm>
          <a:prstGeom prst="rect">
            <a:avLst/>
          </a:prstGeom>
        </p:spPr>
      </p:pic>
      <p:pic>
        <p:nvPicPr>
          <p:cNvPr id="3" name="Image 1" descr="glow.png">    </p:cNvPr>
          <p:cNvPicPr>
            <a:picLocks noChangeAspect="1"/>
          </p:cNvPicPr>
          <p:nvPr/>
        </p:nvPicPr>
        <p:blipFill>
          <a:blip r:embed="rId2">
            <a:alphaModFix amt="58000"/>
          </a:blip>
          <a:stretch>
            <a:fillRect/>
          </a:stretch>
        </p:blipFill>
        <p:spPr>
          <a:xfrm>
            <a:off x="8229600" y="2926080"/>
            <a:ext cx="6858000" cy="6858000"/>
          </a:xfrm>
          <a:prstGeom prst="rect">
            <a:avLst/>
          </a:prstGeom>
        </p:spPr>
      </p:pic>
      <p:pic>
        <p:nvPicPr>
          <p:cNvPr id="4" name="Image 2" descr="moon.png">    </p:cNvPr>
          <p:cNvPicPr>
            <a:picLocks noChangeAspect="1"/>
          </p:cNvPicPr>
          <p:nvPr/>
        </p:nvPicPr>
        <p:blipFill>
          <a:blip r:embed="rId3"/>
          <a:stretch>
            <a:fillRect/>
          </a:stretch>
        </p:blipFill>
        <p:spPr>
          <a:xfrm>
            <a:off x="777240" y="646176"/>
            <a:ext cx="420624" cy="420624"/>
          </a:xfrm>
          <a:prstGeom prst="rect">
            <a:avLst/>
          </a:prstGeom>
        </p:spPr>
      </p:pic>
      <p:sp>
        <p:nvSpPr>
          <p:cNvPr id="5" name="Text 0"/>
          <p:cNvSpPr txBox="1"/>
          <p:nvPr/>
        </p:nvSpPr>
        <p:spPr>
          <a:xfrm>
            <a:off x="1315639" y="685800"/>
            <a:ext cx="4572000" cy="533400"/>
          </a:xfrm>
          <a:prstGeom prst="rect">
            <a:avLst/>
          </a:prstGeom>
          <a:noFill/>
          <a:ln/>
        </p:spPr>
        <p:txBody>
          <a:bodyPr wrap="square" lIns="0" tIns="0" rIns="0" bIns="0" rtlCol="0" anchor="ctr"/>
          <a:lstStyle/>
          <a:p>
            <a:pPr algn="l" indent="0" marL="0">
              <a:buNone/>
            </a:pPr>
            <a:r>
              <a:rPr lang="en-US" sz="2400" b="1" dirty="0">
                <a:solidFill>
                  <a:srgbClr val="60A5FA"/>
                </a:solidFill>
                <a:latin typeface="Nunito" pitchFamily="34" charset="0"/>
                <a:ea typeface="Nunito" pitchFamily="34" charset="-122"/>
                <a:cs typeface="Nunito" pitchFamily="34" charset="-120"/>
              </a:rPr>
              <a:t>l</a:t>
            </a:r>
            <a:pPr algn="l" indent="0" marL="0">
              <a:buNone/>
            </a:pPr>
            <a:r>
              <a:rPr lang="en-US" sz="2400" b="1" dirty="0">
                <a:solidFill>
                  <a:srgbClr val="64A2FA"/>
                </a:solidFill>
                <a:latin typeface="Nunito" pitchFamily="34" charset="0"/>
                <a:ea typeface="Nunito" pitchFamily="34" charset="-122"/>
                <a:cs typeface="Nunito" pitchFamily="34" charset="-120"/>
              </a:rPr>
              <a:t>u</a:t>
            </a:r>
            <a:pPr algn="l" indent="0" marL="0">
              <a:buNone/>
            </a:pPr>
            <a:r>
              <a:rPr lang="en-US" sz="2400" b="1" dirty="0">
                <a:solidFill>
                  <a:srgbClr val="679FFA"/>
                </a:solidFill>
                <a:latin typeface="Nunito" pitchFamily="34" charset="0"/>
                <a:ea typeface="Nunito" pitchFamily="34" charset="-122"/>
                <a:cs typeface="Nunito" pitchFamily="34" charset="-120"/>
              </a:rPr>
              <a:t>n</a:t>
            </a:r>
            <a:pPr algn="l" indent="0" marL="0">
              <a:buNone/>
            </a:pPr>
            <a:r>
              <a:rPr lang="en-US" sz="2400" b="1" dirty="0">
                <a:solidFill>
                  <a:srgbClr val="6B9DF9"/>
                </a:solidFill>
                <a:latin typeface="Nunito" pitchFamily="34" charset="0"/>
                <a:ea typeface="Nunito" pitchFamily="34" charset="-122"/>
                <a:cs typeface="Nunito" pitchFamily="34" charset="-120"/>
              </a:rPr>
              <a:t>a</a:t>
            </a:r>
            <a:pPr algn="l" indent="0" marL="0">
              <a:buNone/>
            </a:pPr>
            <a:r>
              <a:rPr lang="en-US" sz="2400" b="1" dirty="0">
                <a:solidFill>
                  <a:srgbClr val="6F9AF9"/>
                </a:solidFill>
                <a:latin typeface="Nunito" pitchFamily="34" charset="0"/>
                <a:ea typeface="Nunito" pitchFamily="34" charset="-122"/>
                <a:cs typeface="Nunito" pitchFamily="34" charset="-120"/>
              </a:rPr>
              <a:t>r</a:t>
            </a:r>
            <a:pPr algn="l" indent="0" marL="0">
              <a:buNone/>
            </a:pPr>
            <a:r>
              <a:rPr lang="en-US" sz="2400" b="1" dirty="0">
                <a:solidFill>
                  <a:srgbClr val="7297F9"/>
                </a:solidFill>
                <a:latin typeface="Nunito" pitchFamily="34" charset="0"/>
                <a:ea typeface="Nunito" pitchFamily="34" charset="-122"/>
                <a:cs typeface="Nunito" pitchFamily="34" charset="-120"/>
              </a:rPr>
              <a:t>l</a:t>
            </a:r>
            <a:pPr algn="l" indent="0" marL="0">
              <a:buNone/>
            </a:pPr>
            <a:r>
              <a:rPr lang="en-US" sz="2400" b="1" dirty="0">
                <a:solidFill>
                  <a:srgbClr val="7694F9"/>
                </a:solidFill>
                <a:latin typeface="Nunito" pitchFamily="34" charset="0"/>
                <a:ea typeface="Nunito" pitchFamily="34" charset="-122"/>
                <a:cs typeface="Nunito" pitchFamily="34" charset="-120"/>
              </a:rPr>
              <a:t>o</a:t>
            </a:r>
            <a:pPr algn="l" indent="0" marL="0">
              <a:buNone/>
            </a:pPr>
            <a:r>
              <a:rPr lang="en-US" sz="2400" b="1" dirty="0">
                <a:solidFill>
                  <a:srgbClr val="7A92F8"/>
                </a:solidFill>
                <a:latin typeface="Nunito" pitchFamily="34" charset="0"/>
                <a:ea typeface="Nunito" pitchFamily="34" charset="-122"/>
                <a:cs typeface="Nunito" pitchFamily="34" charset="-120"/>
              </a:rPr>
              <a:t>g</a:t>
            </a:r>
            <a:pPr algn="l" indent="0" marL="0">
              <a:buNone/>
            </a:pPr>
            <a:r>
              <a:rPr lang="en-US" sz="2400" b="1" dirty="0">
                <a:solidFill>
                  <a:srgbClr val="7D8FF8"/>
                </a:solidFill>
                <a:latin typeface="Nunito" pitchFamily="34" charset="0"/>
                <a:ea typeface="Nunito" pitchFamily="34" charset="-122"/>
                <a:cs typeface="Nunito" pitchFamily="34" charset="-120"/>
              </a:rPr>
              <a:t>i</a:t>
            </a:r>
            <a:pPr algn="l" indent="0" marL="0">
              <a:buNone/>
            </a:pPr>
            <a:r>
              <a:rPr lang="en-US" sz="2400" b="1" dirty="0">
                <a:solidFill>
                  <a:srgbClr val="818CF8"/>
                </a:solidFill>
                <a:latin typeface="Nunito" pitchFamily="34" charset="0"/>
                <a:ea typeface="Nunito" pitchFamily="34" charset="-122"/>
                <a:cs typeface="Nunito" pitchFamily="34" charset="-120"/>
              </a:rPr>
              <a:t>c</a:t>
            </a:r>
            <a:pPr algn="l" indent="0" marL="0">
              <a:buNone/>
            </a:pPr>
            <a:r>
              <a:rPr lang="en-US" sz="2400" dirty="0">
                <a:solidFill>
                  <a:srgbClr val="FFFFFF">
                    <a:alpha val="70000"/>
                  </a:srgbClr>
                </a:solidFill>
                <a:latin typeface="Nunito" pitchFamily="34" charset="0"/>
                <a:ea typeface="Nunito" pitchFamily="34" charset="-122"/>
                <a:cs typeface="Nunito" pitchFamily="34" charset="-120"/>
              </a:rPr>
              <a:t>.ai</a:t>
            </a:r>
            <a:endParaRPr lang="en-US" sz="2400" dirty="0"/>
          </a:p>
        </p:txBody>
      </p:sp>
      <p:sp>
        <p:nvSpPr>
          <p:cNvPr id="6" name="Text 1"/>
          <p:cNvSpPr txBox="1"/>
          <p:nvPr/>
        </p:nvSpPr>
        <p:spPr>
          <a:xfrm>
            <a:off x="1280160" y="2286000"/>
            <a:ext cx="9628632" cy="2377440"/>
          </a:xfrm>
          <a:prstGeom prst="rect">
            <a:avLst/>
          </a:prstGeom>
          <a:noFill/>
          <a:ln/>
        </p:spPr>
        <p:txBody>
          <a:bodyPr wrap="square" lIns="0" tIns="0" rIns="0" bIns="0" rtlCol="0" anchor="ctr"/>
          <a:lstStyle/>
          <a:p>
            <a:pPr algn="ctr" indent="0" marL="0">
              <a:lnSpc>
                <a:spcPct val="110000"/>
              </a:lnSpc>
              <a:buNone/>
            </a:pPr>
            <a:r>
              <a:rPr lang="en-US" sz="3600" b="1" dirty="0">
                <a:solidFill>
                  <a:srgbClr val="FFFFFF"/>
                </a:solidFill>
                <a:latin typeface="Fraunces" pitchFamily="34" charset="0"/>
                <a:ea typeface="Fraunces" pitchFamily="34" charset="-122"/>
                <a:cs typeface="Fraunces" pitchFamily="34" charset="-120"/>
              </a:rPr>
              <a:t>We find out what's actually broken, then we build the system that fixes it, </a:t>
            </a:r>
            <a:pPr algn="ctr" indent="0" marL="0">
              <a:lnSpc>
                <a:spcPct val="110000"/>
              </a:lnSpc>
              <a:buNone/>
            </a:pPr>
            <a:r>
              <a:rPr lang="en-US" sz="3600" b="1" dirty="0">
                <a:solidFill>
                  <a:srgbClr val="60A5FA"/>
                </a:solidFill>
                <a:latin typeface="Fraunces" pitchFamily="34" charset="0"/>
                <a:ea typeface="Fraunces" pitchFamily="34" charset="-122"/>
                <a:cs typeface="Fraunces" pitchFamily="34" charset="-120"/>
              </a:rPr>
              <a:t>inside the QuickBooks you already run.</a:t>
            </a:r>
            <a:endParaRPr lang="en-US" sz="3600" dirty="0"/>
          </a:p>
        </p:txBody>
      </p:sp>
      <p:sp>
        <p:nvSpPr>
          <p:cNvPr id="7" name="Text 2"/>
          <p:cNvSpPr txBox="1"/>
          <p:nvPr/>
        </p:nvSpPr>
        <p:spPr>
          <a:xfrm>
            <a:off x="1280160" y="4892040"/>
            <a:ext cx="9628632"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Nunito" pitchFamily="34" charset="0"/>
                <a:ea typeface="Nunito" pitchFamily="34" charset="-122"/>
                <a:cs typeface="Nunito" pitchFamily="34" charset="-120"/>
              </a:rPr>
              <a:t>Thank you.  </a:t>
            </a:r>
            <a:pPr algn="ctr" indent="0" marL="0">
              <a:buNone/>
            </a:pPr>
            <a:r>
              <a:rPr lang="en-US" sz="1900" dirty="0">
                <a:solidFill>
                  <a:srgbClr val="CBD5E1"/>
                </a:solidFill>
                <a:latin typeface="Nunito" pitchFamily="34" charset="0"/>
                <a:ea typeface="Nunito" pitchFamily="34" charset="-122"/>
                <a:cs typeface="Nunito" pitchFamily="34" charset="-120"/>
              </a:rPr>
              <a:t>Know a bookkeeper or fractional CFO? Introduce us.</a:t>
            </a:r>
            <a:endParaRPr lang="en-US" sz="1900" dirty="0"/>
          </a:p>
        </p:txBody>
      </p:sp>
      <p:sp>
        <p:nvSpPr>
          <p:cNvPr id="8" name="Text 3"/>
          <p:cNvSpPr txBox="1"/>
          <p:nvPr/>
        </p:nvSpPr>
        <p:spPr>
          <a:xfrm>
            <a:off x="1280160" y="5623560"/>
            <a:ext cx="9628632"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Nunito" pitchFamily="34" charset="0"/>
                <a:ea typeface="Nunito" pitchFamily="34" charset="-122"/>
                <a:cs typeface="Nunito" pitchFamily="34" charset="-120"/>
              </a:rPr>
              <a:t>jrodriguez@lunarlogic.ai</a:t>
            </a:r>
            <a:pPr algn="ctr" indent="0" marL="0">
              <a:buNone/>
            </a:pPr>
            <a:r>
              <a:rPr lang="en-US" sz="1600" b="1" dirty="0">
                <a:solidFill>
                  <a:srgbClr val="60A5FA"/>
                </a:solidFill>
                <a:latin typeface="Nunito" pitchFamily="34" charset="0"/>
                <a:ea typeface="Nunito" pitchFamily="34" charset="-122"/>
                <a:cs typeface="Nunito" pitchFamily="34" charset="-120"/>
              </a:rPr>
              <a:t>      lunarlogic.ai</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LunarLogic Solutions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LunarLogic Solutions LLC</dc:creator>
  <cp:lastModifiedBy>LunarLogic Solutions LLC</cp:lastModifiedBy>
  <cp:revision>1</cp:revision>
  <dcterms:created xsi:type="dcterms:W3CDTF">2026-08-27T15:48:46Z</dcterms:created>
  <dcterms:modified xsi:type="dcterms:W3CDTF">2026-08-27T15:48:46Z</dcterms:modified>
</cp:coreProperties>
</file>