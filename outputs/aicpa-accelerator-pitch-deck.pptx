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6" y="1234440"/>
            <a:ext cx="1005840" cy="1005840"/>
          </a:xfrm>
          <a:prstGeom prst="rect">
            <a:avLst/>
          </a:prstGeom>
        </p:spPr>
      </p:pic>
      <p:pic>
        <p:nvPicPr>
          <p:cNvPr id="4" name="Image 2" descr="lunarlogic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6" y="2395728"/>
            <a:ext cx="3200400" cy="5943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0" y="33832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2027 AICPA &amp; CPA.com Startup Accelerator</a:t>
            </a:r>
            <a:endParaRPr lang="en-US" sz="3300" dirty="0"/>
          </a:p>
        </p:txBody>
      </p:sp>
      <p:sp>
        <p:nvSpPr>
          <p:cNvPr id="6" name="Text 1"/>
          <p:cNvSpPr txBox="1"/>
          <p:nvPr/>
        </p:nvSpPr>
        <p:spPr>
          <a:xfrm>
            <a:off x="914400" y="395020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Application</a:t>
            </a:r>
            <a:endParaRPr lang="en-US" sz="3300" dirty="0"/>
          </a:p>
        </p:txBody>
      </p:sp>
      <p:sp>
        <p:nvSpPr>
          <p:cNvPr id="7" name="Shape 2"/>
          <p:cNvSpPr/>
          <p:nvPr/>
        </p:nvSpPr>
        <p:spPr>
          <a:xfrm>
            <a:off x="4997196" y="4709160"/>
            <a:ext cx="2194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914400" y="48920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Jonathan Rodriguez</a:t>
            </a:r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Founder &amp; CEO, LunarLogic Solutions LLC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914400" y="5248656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Charlotte, NC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QuickBooks is a general purpose ledger. Every business or bookkeeping practice running on it eventually needs something it was never built to do.</a:t>
            </a:r>
            <a:endParaRPr lang="en-US" sz="2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88920"/>
            <a:ext cx="530352" cy="53035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16736" y="2761488"/>
            <a:ext cx="4549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close that runs on one person's spreadsheet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1316736" y="3072384"/>
            <a:ext cx="4549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month end depends on a file only one person understands.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2788920"/>
            <a:ext cx="530352" cy="53035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072884" y="2761488"/>
            <a:ext cx="4549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Reconciliation done by hand, after the fact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7072884" y="3072384"/>
            <a:ext cx="4549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Errors surface late, when they are expensive to fix.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03320"/>
            <a:ext cx="530352" cy="53035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16736" y="3675888"/>
            <a:ext cx="4549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Debt schedules kept outside the ledger</a:t>
            </a:r>
            <a:endParaRPr lang="en-US" sz="1450" dirty="0"/>
          </a:p>
        </p:txBody>
      </p:sp>
      <p:sp>
        <p:nvSpPr>
          <p:cNvPr id="16" name="Text 9"/>
          <p:cNvSpPr txBox="1"/>
          <p:nvPr/>
        </p:nvSpPr>
        <p:spPr>
          <a:xfrm>
            <a:off x="1316736" y="3986784"/>
            <a:ext cx="4549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Loan balances drift out of sync with the books.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76" y="3703320"/>
            <a:ext cx="530352" cy="53035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072884" y="3675888"/>
            <a:ext cx="4549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 that runs on memory</a:t>
            </a:r>
            <a:endParaRPr lang="en-US" sz="1450" dirty="0"/>
          </a:p>
        </p:txBody>
      </p:sp>
      <p:sp>
        <p:nvSpPr>
          <p:cNvPr id="19" name="Text 11"/>
          <p:cNvSpPr txBox="1"/>
          <p:nvPr/>
        </p:nvSpPr>
        <p:spPr>
          <a:xfrm>
            <a:off x="7072884" y="3986784"/>
            <a:ext cx="4549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Follow up happens when someone remembers, not on a system.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617720"/>
            <a:ext cx="530352" cy="53035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16736" y="4590288"/>
            <a:ext cx="4549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consolidated view across entities</a:t>
            </a:r>
            <a:endParaRPr lang="en-US" sz="1450" dirty="0"/>
          </a:p>
        </p:txBody>
      </p:sp>
      <p:sp>
        <p:nvSpPr>
          <p:cNvPr id="22" name="Text 13"/>
          <p:cNvSpPr txBox="1"/>
          <p:nvPr/>
        </p:nvSpPr>
        <p:spPr>
          <a:xfrm>
            <a:off x="1316736" y="4901184"/>
            <a:ext cx="4549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Owners cannot see the whole picture in one place.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66928" y="5742432"/>
            <a:ext cx="11055096" cy="749808"/>
          </a:xfrm>
          <a:prstGeom prst="roundRect">
            <a:avLst>
              <a:gd name="adj" fmla="val 1219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822960" y="5742432"/>
            <a:ext cx="10543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Who absorbs it:  </a:t>
            </a:r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business owners with no dedicated accounting staff, and fractional CFOs and bookkeepers managing multiple client books. Both are structurally capped by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NOW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tools have existed for years. The partner has not.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208483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QuickBooks, workflow automation, and AI assisted document processing have all been available for years. What has not existed is a partner willing to sit down, diagnose what is actually broken, and build the specific fix.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32461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This gap has been ignored on every side: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6928" y="3749040"/>
            <a:ext cx="3441192" cy="2148840"/>
          </a:xfrm>
          <a:prstGeom prst="roundRect">
            <a:avLst>
              <a:gd name="adj" fmla="val 4255"/>
            </a:avLst>
          </a:prstGeom>
          <a:solidFill>
            <a:srgbClr val="1E293B">
              <a:alpha val="55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059936"/>
            <a:ext cx="621792" cy="6217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9536" y="4800600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Enterprise software vendors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59536" y="5230368"/>
            <a:ext cx="2855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Built for large finance teams, priced and scoped out of reach for most businesses.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73880" y="3749040"/>
            <a:ext cx="3441192" cy="2148840"/>
          </a:xfrm>
          <a:prstGeom prst="roundRect">
            <a:avLst>
              <a:gd name="adj" fmla="val 4255"/>
            </a:avLst>
          </a:prstGeom>
          <a:solidFill>
            <a:srgbClr val="1E293B">
              <a:alpha val="55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488" y="4059936"/>
            <a:ext cx="621792" cy="62179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666488" y="4800600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Consulting firms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4666488" y="5230368"/>
            <a:ext cx="2855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Bill by the hour and leave. No system stays behind once the engagement ends.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180832" y="3749040"/>
            <a:ext cx="3441192" cy="2148840"/>
          </a:xfrm>
          <a:prstGeom prst="roundRect">
            <a:avLst>
              <a:gd name="adj" fmla="val 4255"/>
            </a:avLst>
          </a:prstGeom>
          <a:solidFill>
            <a:srgbClr val="1E293B">
              <a:alpha val="55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440" y="4059936"/>
            <a:ext cx="621792" cy="62179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473440" y="4800600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Fixed menu SaaS tools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473440" y="5230368"/>
            <a:ext cx="2855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Ship one shape of product and ask every business to bend around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2436876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051560" y="1691640"/>
            <a:ext cx="10085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 find out what is actually broken in your accounting workflow, then we build the system that fixes it, </a:t>
            </a:r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60A5F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inside the QuickBooks you already run.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566928" y="4160520"/>
            <a:ext cx="3410712" cy="1783080"/>
          </a:xfrm>
          <a:prstGeom prst="roundRect">
            <a:avLst>
              <a:gd name="adj" fmla="val 51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388" y="4416552"/>
            <a:ext cx="621792" cy="62179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49808" y="51206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fixed product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786384" y="5458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module list. Every engagement starts from your actual workflow.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389120" y="4160520"/>
            <a:ext cx="3410712" cy="1783080"/>
          </a:xfrm>
          <a:prstGeom prst="roundRect">
            <a:avLst>
              <a:gd name="adj" fmla="val 51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80" y="4416552"/>
            <a:ext cx="621792" cy="6217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0" y="51206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Discovery first, every time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4608576" y="5458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diagnose the real bottleneck through direct conversation.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211312" y="4160520"/>
            <a:ext cx="3410712" cy="1783080"/>
          </a:xfrm>
          <a:prstGeom prst="roundRect">
            <a:avLst>
              <a:gd name="adj" fmla="val 51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772" y="4416552"/>
            <a:ext cx="621792" cy="62179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394192" y="51206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Trust is structural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8430768" y="5458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never take write access to your QuickBooks.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1280160" y="6089904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Every journal entry, reconciliation, and adjustment is prepared for your review and manual posting. Trust is built into how we work, not promised.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Discovery first. Handoff, never takeover.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987552" y="3209544"/>
            <a:ext cx="1021384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88920"/>
            <a:ext cx="841248" cy="8412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66928" y="27889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566928" y="37581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566928" y="4306824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 conversation about how the work runs today.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390" y="2788920"/>
            <a:ext cx="841248" cy="8412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120390" y="27889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9"/>
          <p:cNvSpPr txBox="1"/>
          <p:nvPr/>
        </p:nvSpPr>
        <p:spPr>
          <a:xfrm>
            <a:off x="2617470" y="37581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Diagnosis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2553462" y="4306824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Map the real bottleneck, not the assumed one.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852" y="2788920"/>
            <a:ext cx="841248" cy="8412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673852" y="27889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2"/>
          <p:cNvSpPr txBox="1"/>
          <p:nvPr/>
        </p:nvSpPr>
        <p:spPr>
          <a:xfrm>
            <a:off x="5170932" y="37581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Scope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5106924" y="4306824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build scoped to exactly what we found.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314" y="2788920"/>
            <a:ext cx="841248" cy="84124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227314" y="27889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15"/>
          <p:cNvSpPr txBox="1"/>
          <p:nvPr/>
        </p:nvSpPr>
        <p:spPr>
          <a:xfrm>
            <a:off x="7724394" y="37581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Build &amp; Shadow Test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7660386" y="4306824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Runs in parallel with your books before going live.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0776" y="2788920"/>
            <a:ext cx="841248" cy="84124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780776" y="27889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18"/>
          <p:cNvSpPr txBox="1"/>
          <p:nvPr/>
        </p:nvSpPr>
        <p:spPr>
          <a:xfrm>
            <a:off x="9774936" y="37581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Handoff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9646920" y="4306824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keep full control. Never a takeover.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566928" y="566928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841248" y="56692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through line:  </a:t>
            </a:r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do not arrive with a product to install. We arrive with questions, find the actual constraint, and build only what fixes it.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PROOF IT WORKS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8016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Kaptain Clean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commercial cleaning, our completed engagement cleared for external use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66928" y="2148840"/>
            <a:ext cx="3441192" cy="2331720"/>
          </a:xfrm>
          <a:prstGeom prst="roundRect">
            <a:avLst>
              <a:gd name="adj" fmla="val 3922"/>
            </a:avLst>
          </a:prstGeom>
          <a:solidFill>
            <a:srgbClr val="1E293B">
              <a:alpha val="65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04088" y="2532888"/>
            <a:ext cx="3166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52 → 33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3566160"/>
            <a:ext cx="3166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DAYS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39319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Days sales outstanding, down from 52 to 33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3880" y="2148840"/>
            <a:ext cx="3441192" cy="2331720"/>
          </a:xfrm>
          <a:prstGeom prst="roundRect">
            <a:avLst>
              <a:gd name="adj" fmla="val 3922"/>
            </a:avLst>
          </a:prstGeom>
          <a:solidFill>
            <a:srgbClr val="1E293B">
              <a:alpha val="65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11040" y="2532888"/>
            <a:ext cx="3166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18C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84%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4511040" y="3566160"/>
            <a:ext cx="3166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REDUCTION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48200" y="39319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Less time spent processing invoices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80832" y="2148840"/>
            <a:ext cx="3441192" cy="2331720"/>
          </a:xfrm>
          <a:prstGeom prst="roundRect">
            <a:avLst>
              <a:gd name="adj" fmla="val 3922"/>
            </a:avLst>
          </a:prstGeom>
          <a:solidFill>
            <a:srgbClr val="1E293B">
              <a:alpha val="65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317992" y="2532888"/>
            <a:ext cx="3166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$65K+</a:t>
            </a:r>
            <a:endParaRPr lang="en-US" sz="5400" dirty="0"/>
          </a:p>
        </p:txBody>
      </p:sp>
      <p:sp>
        <p:nvSpPr>
          <p:cNvPr id="18" name="Text 14"/>
          <p:cNvSpPr txBox="1"/>
          <p:nvPr/>
        </p:nvSpPr>
        <p:spPr>
          <a:xfrm>
            <a:off x="8317992" y="3566160"/>
            <a:ext cx="3166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FREED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455152" y="39319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Working capital freed up for the business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66928" y="498348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94944" y="510235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94944" y="51023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B2E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DRAFT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517904" y="5056632"/>
            <a:ext cx="9957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BF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CONFIRM: number of firms currently in active discovery or pilot conversations, if Jonathan wants to show pipeline breadth alongside this completed case study.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566928" y="58064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completed engagement, real numbers, a business owner who kept full control of the books throughout.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Recurring revenue, plus a build scoped to the fix.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66928" y="2148840"/>
            <a:ext cx="5298948" cy="2194560"/>
          </a:xfrm>
          <a:prstGeom prst="roundRect">
            <a:avLst>
              <a:gd name="adj" fmla="val 4167"/>
            </a:avLst>
          </a:prstGeom>
          <a:solidFill>
            <a:srgbClr val="1E293B">
              <a:alpha val="55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478024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00784" y="2532888"/>
            <a:ext cx="3927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Monthly recurring revenue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77824" y="329184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 ongoing subscription for the system we build and support. Not percentage of recovery, not usage only.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323076" y="2148840"/>
            <a:ext cx="5298948" cy="2194560"/>
          </a:xfrm>
          <a:prstGeom prst="roundRect">
            <a:avLst>
              <a:gd name="adj" fmla="val 4167"/>
            </a:avLst>
          </a:prstGeom>
          <a:solidFill>
            <a:srgbClr val="1E293B">
              <a:alpha val="55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478024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456932" y="2532888"/>
            <a:ext cx="3927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time implementation fee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633972" y="329184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Scoped to the specific build, quoted from discovery. Close workbooks, consolidation layers, reconciliation systems, each priced on its own.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66928" y="470916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17" name="Shape 11"/>
          <p:cNvSpPr/>
          <p:nvPr/>
        </p:nvSpPr>
        <p:spPr>
          <a:xfrm>
            <a:off x="694944" y="482803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694944" y="48280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B2E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DRAFT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517904" y="4782312"/>
            <a:ext cx="9957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BF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CONFIRM: current published tier structure and price points before this goes on a slide reviewers will scrutinize.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it holds:  </a:t>
            </a:r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revenue is tied to a system that stays in place, not to a one time project that walks out the door.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MARKET AND IDEAL CUSTOMER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 buyers. One is where we start.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66928" y="2011680"/>
            <a:ext cx="5298948" cy="4160520"/>
          </a:xfrm>
          <a:prstGeom prst="roundRect">
            <a:avLst>
              <a:gd name="adj" fmla="val 2198"/>
            </a:avLst>
          </a:prstGeom>
          <a:solidFill>
            <a:srgbClr val="1E293B">
              <a:alpha val="52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322576"/>
            <a:ext cx="603504" cy="60350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27632" y="2322576"/>
            <a:ext cx="4018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Buyer Type 1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627632" y="2578608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Owner operated service business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932688" y="32461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$750K to $10M in revenue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QuickBooks Online or Desktop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dedicated accounting staff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32688" y="4297680"/>
            <a:ext cx="4567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VERTICALS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932688" y="4572000"/>
            <a:ext cx="4567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Commercial cleaning, landscaping, HVAC and trades, staffing, marketing agencies, IT managed service providers, commercial property maintenance.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23076" y="2011680"/>
            <a:ext cx="5298948" cy="4160520"/>
          </a:xfrm>
          <a:prstGeom prst="roundRect">
            <a:avLst>
              <a:gd name="adj" fmla="val 2198"/>
            </a:avLst>
          </a:prstGeom>
          <a:solidFill>
            <a:srgbClr val="1E293B">
              <a:alpha val="7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747504" y="230428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747504" y="2304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 PRIORITY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322576"/>
            <a:ext cx="603504" cy="60350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3780" y="2322576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Buyer Type 2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7383780" y="2578608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Fractional CFO or bookkeeper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6688836" y="3246120"/>
            <a:ext cx="45674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Runs their own practice, managing books for one or more QuickBooks clients.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688836" y="4160520"/>
            <a:ext cx="4567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IT IS THE HIGHEST LEVERAGE RELATIONSHIP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688836" y="4462272"/>
            <a:ext cx="4567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practice is the buyer and owns the system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Each practice becomes a referral source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relationship can produce many client engagements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Relationship based, not broadcast.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66928" y="2148840"/>
            <a:ext cx="11055096" cy="896112"/>
          </a:xfrm>
          <a:prstGeom prst="roundRect">
            <a:avLst>
              <a:gd name="adj" fmla="val 10204"/>
            </a:avLst>
          </a:prstGeom>
          <a:solidFill>
            <a:srgbClr val="1E293B">
              <a:alpha val="54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0352" cy="53035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72768" y="2258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Warm nurture with the practices themselves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572768" y="2606040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Fractional CFOs, bookkeepers, and QuickBooks ProAdvisors in Charlotte first.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10204704" y="24231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10204704" y="24231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PRIORITY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66928" y="3172968"/>
            <a:ext cx="11055096" cy="896112"/>
          </a:xfrm>
          <a:prstGeom prst="roundRect">
            <a:avLst>
              <a:gd name="adj" fmla="val 10204"/>
            </a:avLst>
          </a:prstGeom>
          <a:solidFill>
            <a:srgbClr val="1E293B">
              <a:alpha val="54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55848"/>
            <a:ext cx="530352" cy="53035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72768" y="32826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person community events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572768" y="3630168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Prioritized over cold outreach and email lists.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66928" y="4197096"/>
            <a:ext cx="11055096" cy="896112"/>
          </a:xfrm>
          <a:prstGeom prst="roundRect">
            <a:avLst>
              <a:gd name="adj" fmla="val 10204"/>
            </a:avLst>
          </a:prstGeom>
          <a:solidFill>
            <a:srgbClr val="1E293B">
              <a:alpha val="54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79976"/>
            <a:ext cx="530352" cy="53035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572768" y="43068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Channel partnerships already in motion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572768" y="4654296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fractional CFO firm relationship, plus ProAdvisor networks across Charlotte and Miami.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66928" y="5221224"/>
            <a:ext cx="11055096" cy="896112"/>
          </a:xfrm>
          <a:prstGeom prst="roundRect">
            <a:avLst>
              <a:gd name="adj" fmla="val 10204"/>
            </a:avLst>
          </a:prstGeom>
          <a:solidFill>
            <a:srgbClr val="1E293B">
              <a:alpha val="54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404104"/>
            <a:ext cx="530352" cy="53035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572768" y="5330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 outreach as a secondary motion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572768" y="5678424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Owner operated businesses in the target verticals.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 work one layer below the tools reviewers know.</a:t>
            </a:r>
            <a:endParaRPr lang="en-US" sz="2500" dirty="0"/>
          </a:p>
        </p:txBody>
      </p:sp>
      <p:sp>
        <p:nvSpPr>
          <p:cNvPr id="8" name="Shape 4"/>
          <p:cNvSpPr/>
          <p:nvPr/>
        </p:nvSpPr>
        <p:spPr>
          <a:xfrm>
            <a:off x="566928" y="2103120"/>
            <a:ext cx="11055096" cy="603504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9808" y="210312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 nothing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224528" y="2103120"/>
            <a:ext cx="7214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bottleneck stays. It compounds as the business grows.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70662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Hire staff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224528" y="2706624"/>
            <a:ext cx="7214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Slow and expensive, and it does not fix the underlying workflow.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3310128"/>
            <a:ext cx="11055096" cy="603504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49808" y="33101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Generic off the shelf tools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224528" y="3310128"/>
            <a:ext cx="7214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fixed shape. The business has to bend around the software.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" y="391363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Reporting layer tools, e.g. Fathom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224528" y="3913632"/>
            <a:ext cx="7214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Sit on top of already clean data and display it well.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" y="4626864"/>
            <a:ext cx="11055096" cy="713232"/>
          </a:xfrm>
          <a:prstGeom prst="roundRect">
            <a:avLst>
              <a:gd name="adj" fmla="val 12821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9" name="Image 2" descr="lunarlogic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78231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16736" y="46268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224528" y="4626864"/>
            <a:ext cx="7214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production layer that generates the entries and calculations those tools display.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66928" y="5742432"/>
            <a:ext cx="11055096" cy="749808"/>
          </a:xfrm>
          <a:prstGeom prst="roundRect">
            <a:avLst>
              <a:gd name="adj" fmla="val 1219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41248" y="5742432"/>
            <a:ext cx="10506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distinction that matters:  </a:t>
            </a:r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reporting tools display clean data. We are the layer that produces it. We are not a competitor to Fathom, we operate one level down.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founder close to the buyer, an advisor who has built this before.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66928" y="2011680"/>
            <a:ext cx="5298948" cy="3063240"/>
          </a:xfrm>
          <a:prstGeom prst="roundRect">
            <a:avLst>
              <a:gd name="adj" fmla="val 2985"/>
            </a:avLst>
          </a:prstGeom>
          <a:solidFill>
            <a:srgbClr val="1E293B">
              <a:alpha val="55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322576"/>
            <a:ext cx="658368" cy="6583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00784" y="2340864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Jonathan Rodriguez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700784" y="2688336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Founder &amp; CEO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7824" y="3182112"/>
            <a:ext cx="46771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Eight plus years in accounting. Audit at 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PricewaterhouseCoopers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then multi-entity month-end close, accruals, and balance sheet reconciliations at 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Siegfried Group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The work LunarLogic builds systems for is work Jonathan has done by hand.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877824" y="4206240"/>
            <a:ext cx="46771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CREDENTIALS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877824" y="4462272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B.S. Accounting, Florida International University   ·   GAAP and AICPA standards   ·   QuickBooks, SAP, Oracle   ·   Excel Expert Certified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23076" y="2011680"/>
            <a:ext cx="5298948" cy="3063240"/>
          </a:xfrm>
          <a:prstGeom prst="roundRect">
            <a:avLst>
              <a:gd name="adj" fmla="val 2985"/>
            </a:avLst>
          </a:prstGeom>
          <a:solidFill>
            <a:srgbClr val="1E293B">
              <a:alpha val="55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322576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56932" y="2340864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Chris Elmore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7456932" y="2688336"/>
            <a:ext cx="3927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Advisor, pitch and go to market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633972" y="3246120"/>
            <a:ext cx="46771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First employee at AvidXchange in 2000, through its October 2021 NASDAQ IPO (AVDX), now one of the largest accounts payable automation platforms in the country.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Also adjunct professor of entrepreneurship at UNC Charlotte and Queens University of Charlotte.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66928" y="525780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694944" y="537667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94944" y="53766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B2E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DRAFT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517904" y="5330952"/>
            <a:ext cx="9957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BF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CONFIRM: current headcount framing, for example solo founder plus one contract developer, Tabitha Oke, engaged on a milestone basis.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TRACTION AND NEAR TERM TARGETS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we are driving to this quarter, and where it goes.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THIS QUARTER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2286000"/>
            <a:ext cx="3441192" cy="1737360"/>
          </a:xfrm>
          <a:prstGeom prst="roundRect">
            <a:avLst>
              <a:gd name="adj" fmla="val 5263"/>
            </a:avLst>
          </a:prstGeom>
          <a:solidFill>
            <a:srgbClr val="1E293B">
              <a:alpha val="62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42032"/>
            <a:ext cx="512064" cy="5120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35608" y="2468880"/>
            <a:ext cx="2435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$3K to $5K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841248" y="324612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monthly recurring revenue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373880" y="2286000"/>
            <a:ext cx="3441192" cy="1737360"/>
          </a:xfrm>
          <a:prstGeom prst="roundRect">
            <a:avLst>
              <a:gd name="adj" fmla="val 5263"/>
            </a:avLst>
          </a:prstGeom>
          <a:solidFill>
            <a:srgbClr val="1E293B">
              <a:alpha val="62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542032"/>
            <a:ext cx="512064" cy="5120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42560" y="2468880"/>
            <a:ext cx="2435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2+</a:t>
            </a:r>
            <a:endParaRPr lang="en-US" sz="2800" dirty="0"/>
          </a:p>
        </p:txBody>
      </p:sp>
      <p:sp>
        <p:nvSpPr>
          <p:cNvPr id="16" name="Text 10"/>
          <p:cNvSpPr txBox="1"/>
          <p:nvPr/>
        </p:nvSpPr>
        <p:spPr>
          <a:xfrm>
            <a:off x="4648200" y="324612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active referral producing channel partners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180832" y="2286000"/>
            <a:ext cx="3441192" cy="1737360"/>
          </a:xfrm>
          <a:prstGeom prst="roundRect">
            <a:avLst>
              <a:gd name="adj" fmla="val 5263"/>
            </a:avLst>
          </a:prstGeom>
          <a:solidFill>
            <a:srgbClr val="1E293B">
              <a:alpha val="62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152" y="2542032"/>
            <a:ext cx="512064" cy="51206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49512" y="2468880"/>
            <a:ext cx="2435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800" dirty="0"/>
          </a:p>
        </p:txBody>
      </p:sp>
      <p:sp>
        <p:nvSpPr>
          <p:cNvPr id="20" name="Text 13"/>
          <p:cNvSpPr txBox="1"/>
          <p:nvPr/>
        </p:nvSpPr>
        <p:spPr>
          <a:xfrm>
            <a:off x="8455152" y="324612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second published case study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66928" y="4279392"/>
            <a:ext cx="11055096" cy="1417320"/>
          </a:xfrm>
          <a:prstGeom prst="roundRect">
            <a:avLst>
              <a:gd name="adj" fmla="val 6452"/>
            </a:avLst>
          </a:prstGeom>
          <a:solidFill>
            <a:srgbClr val="1E293B">
              <a:alpha val="54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59536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YEAR DIRECTION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859536" y="4736592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Scale primarily through the fractional CFO and bookkeeper channel, since each practice relationship can produce multiple direct client engagements. Expand geographically beyond Charlotte as that model proves out.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66928" y="5870448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694944" y="5989320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94944" y="59893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B2E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DRAFT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517904" y="5943600"/>
            <a:ext cx="9957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BF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CONFIRM: specific three year revenue or market targets, if Jonathan wants firmer numbers on this slide.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1481328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WE WANT FROM THE ACCELERATOR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124358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asks, stated plainly.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66928" y="2103120"/>
            <a:ext cx="11055096" cy="1170432"/>
          </a:xfrm>
          <a:prstGeom prst="roundRect">
            <a:avLst>
              <a:gd name="adj" fmla="val 7813"/>
            </a:avLst>
          </a:prstGeom>
          <a:solidFill>
            <a:srgbClr val="1E293B">
              <a:alpha val="5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86584"/>
            <a:ext cx="603504" cy="60350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41248" y="23865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1664208" y="2322576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Access to the network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1664208" y="2706624"/>
            <a:ext cx="9683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 access to the AICPA and CPA.com network of practicing fractional CFOs, bookkeepers, and QuickBooks ProAdvisors. This is our core go to market channel.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66928" y="3474720"/>
            <a:ext cx="11055096" cy="1170432"/>
          </a:xfrm>
          <a:prstGeom prst="roundRect">
            <a:avLst>
              <a:gd name="adj" fmla="val 7813"/>
            </a:avLst>
          </a:prstGeom>
          <a:solidFill>
            <a:srgbClr val="1E293B">
              <a:alpha val="5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758184"/>
            <a:ext cx="603504" cy="6035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1248" y="37581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1664208" y="3694176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Pricing and packaging guidance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1664208" y="4078224"/>
            <a:ext cx="9683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Structured help pricing and packaging a custom build model without losing the discovery first positioning that makes it work.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66928" y="4846320"/>
            <a:ext cx="11055096" cy="1170432"/>
          </a:xfrm>
          <a:prstGeom prst="roundRect">
            <a:avLst>
              <a:gd name="adj" fmla="val 7813"/>
            </a:avLst>
          </a:prstGeom>
          <a:solidFill>
            <a:srgbClr val="1E293B">
              <a:alpha val="5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129784"/>
            <a:ext cx="603504" cy="6035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41248" y="5129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1664208" y="5065776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Credibility with the buyer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1664208" y="5449824"/>
            <a:ext cx="9683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Standing with a relationship driven buyer who needs to trust a small vendor with their practice's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unarlogic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6" y="1051560"/>
            <a:ext cx="914400" cy="914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28600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 find out what is actually broken in your accounting workflow, then we build the system that fixes it, </a:t>
            </a:r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60A5F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inside the QuickBooks you already run.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088636" y="4160520"/>
            <a:ext cx="2011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2" descr="lunarlogic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4480560"/>
            <a:ext cx="2560320" cy="47548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14400" y="5212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jrodriguez@lunarlogic.ai</a:t>
            </a:r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   lunarlogic.ai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914400" y="559612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LunarLogic Solutions LLC   ·   Charlotte, NC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2026-08-27T16:43:08Z</dcterms:created>
  <dcterms:modified xsi:type="dcterms:W3CDTF">2026-08-27T16:43:08Z</dcterms:modified>
</cp:coreProperties>
</file>