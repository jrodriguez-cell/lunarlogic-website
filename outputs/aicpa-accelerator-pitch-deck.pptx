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6" y="1234440"/>
            <a:ext cx="1005840" cy="1005840"/>
          </a:xfrm>
          <a:prstGeom prst="rect">
            <a:avLst/>
          </a:prstGeom>
        </p:spPr>
      </p:pic>
      <p:pic>
        <p:nvPicPr>
          <p:cNvPr id="4" name="Image 2" descr="lunarlogic-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4276" y="2395728"/>
            <a:ext cx="3200400" cy="594360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914400" y="3383280"/>
            <a:ext cx="10360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2027 AICPA &amp; CPA.com Startup Accelerator</a:t>
            </a:r>
            <a:endParaRPr lang="en-US" sz="3300" dirty="0"/>
          </a:p>
        </p:txBody>
      </p:sp>
      <p:sp>
        <p:nvSpPr>
          <p:cNvPr id="6" name="Text 1"/>
          <p:cNvSpPr txBox="1"/>
          <p:nvPr/>
        </p:nvSpPr>
        <p:spPr>
          <a:xfrm>
            <a:off x="914400" y="3950208"/>
            <a:ext cx="1036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Application</a:t>
            </a:r>
            <a:endParaRPr lang="en-US" sz="3300" dirty="0"/>
          </a:p>
        </p:txBody>
      </p:sp>
      <p:sp>
        <p:nvSpPr>
          <p:cNvPr id="7" name="Shape 2"/>
          <p:cNvSpPr/>
          <p:nvPr/>
        </p:nvSpPr>
        <p:spPr>
          <a:xfrm>
            <a:off x="4997196" y="4709160"/>
            <a:ext cx="219456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914400" y="489204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Jonathan Rodriguez</a:t>
            </a:r>
            <a:pPr algn="ctr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Founder &amp; CEO, LunarLogic Solutions LLC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914400" y="5248656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Charlotte, NC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QuickBooks is a general purpose ledger. Every business or bookkeeping practice running on it eventually needs something it was never built to do.</a:t>
            </a:r>
            <a:endParaRPr lang="en-US" sz="26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88920"/>
            <a:ext cx="530352" cy="53035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316736" y="2761488"/>
            <a:ext cx="45491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close that runs on one person's spreadsheet</a:t>
            </a:r>
            <a:endParaRPr lang="en-US" sz="1450" dirty="0"/>
          </a:p>
        </p:txBody>
      </p:sp>
      <p:sp>
        <p:nvSpPr>
          <p:cNvPr id="10" name="Text 5"/>
          <p:cNvSpPr txBox="1"/>
          <p:nvPr/>
        </p:nvSpPr>
        <p:spPr>
          <a:xfrm>
            <a:off x="1316736" y="3072384"/>
            <a:ext cx="45491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month end depends on a file only one person understands.</a:t>
            </a:r>
            <a:endParaRPr lang="en-US" sz="12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076" y="2788920"/>
            <a:ext cx="530352" cy="530352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072884" y="2761488"/>
            <a:ext cx="45491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Reconciliation done by hand, after the fact</a:t>
            </a:r>
            <a:endParaRPr lang="en-US" sz="1450" dirty="0"/>
          </a:p>
        </p:txBody>
      </p:sp>
      <p:sp>
        <p:nvSpPr>
          <p:cNvPr id="13" name="Text 7"/>
          <p:cNvSpPr txBox="1"/>
          <p:nvPr/>
        </p:nvSpPr>
        <p:spPr>
          <a:xfrm>
            <a:off x="7072884" y="3072384"/>
            <a:ext cx="45491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Errors surface late, when they are expensive to fix.</a:t>
            </a:r>
            <a:endParaRPr lang="en-US" sz="1200" dirty="0"/>
          </a:p>
        </p:txBody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703320"/>
            <a:ext cx="530352" cy="53035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316736" y="3675888"/>
            <a:ext cx="45491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Debt schedules kept outside the ledger</a:t>
            </a:r>
            <a:endParaRPr lang="en-US" sz="1450" dirty="0"/>
          </a:p>
        </p:txBody>
      </p:sp>
      <p:sp>
        <p:nvSpPr>
          <p:cNvPr id="16" name="Text 9"/>
          <p:cNvSpPr txBox="1"/>
          <p:nvPr/>
        </p:nvSpPr>
        <p:spPr>
          <a:xfrm>
            <a:off x="1316736" y="3986784"/>
            <a:ext cx="45491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Loan balances drift out of sync with the books.</a:t>
            </a:r>
            <a:endParaRPr lang="en-US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23076" y="3703320"/>
            <a:ext cx="530352" cy="53035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072884" y="3675888"/>
            <a:ext cx="45491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AR that runs on memory</a:t>
            </a:r>
            <a:endParaRPr lang="en-US" sz="1450" dirty="0"/>
          </a:p>
        </p:txBody>
      </p:sp>
      <p:sp>
        <p:nvSpPr>
          <p:cNvPr id="19" name="Text 11"/>
          <p:cNvSpPr txBox="1"/>
          <p:nvPr/>
        </p:nvSpPr>
        <p:spPr>
          <a:xfrm>
            <a:off x="7072884" y="3986784"/>
            <a:ext cx="45491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Follow up happens when someone remembers, not on a system.</a:t>
            </a:r>
            <a:endParaRPr lang="en-US" sz="1200" dirty="0"/>
          </a:p>
        </p:txBody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617720"/>
            <a:ext cx="530352" cy="53035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316736" y="4590288"/>
            <a:ext cx="45491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consolidated view across entities</a:t>
            </a:r>
            <a:endParaRPr lang="en-US" sz="1450" dirty="0"/>
          </a:p>
        </p:txBody>
      </p:sp>
      <p:sp>
        <p:nvSpPr>
          <p:cNvPr id="22" name="Text 13"/>
          <p:cNvSpPr txBox="1"/>
          <p:nvPr/>
        </p:nvSpPr>
        <p:spPr>
          <a:xfrm>
            <a:off x="1316736" y="4901184"/>
            <a:ext cx="45491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Owners cannot see the whole picture in one place.</a:t>
            </a:r>
            <a:endParaRPr lang="en-US" sz="1200" dirty="0"/>
          </a:p>
        </p:txBody>
      </p:sp>
      <p:sp>
        <p:nvSpPr>
          <p:cNvPr id="23" name="Shape 14"/>
          <p:cNvSpPr/>
          <p:nvPr/>
        </p:nvSpPr>
        <p:spPr>
          <a:xfrm>
            <a:off x="566928" y="5742432"/>
            <a:ext cx="11055096" cy="749808"/>
          </a:xfrm>
          <a:prstGeom prst="roundRect">
            <a:avLst>
              <a:gd name="adj" fmla="val 1219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742432"/>
            <a:ext cx="105430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Who absorbs it:  </a:t>
            </a:r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business owners with no dedicated accounting staff, and fractional CFOs and bookkeepers managing multiple client books. Both are structurally capped by it.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WHY NOW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The tools have existed for years. The partner has not.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208483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5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QuickBooks, workflow automation, and AI assisted document processing have all been available for years. What has not existed is a partner willing to sit down, diagnose what is actually broken, and build the specific fix.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32461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This gap has been ignored on every side: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3749040"/>
            <a:ext cx="3441192" cy="2148840"/>
          </a:xfrm>
          <a:prstGeom prst="roundRect">
            <a:avLst>
              <a:gd name="adj" fmla="val 4255"/>
            </a:avLst>
          </a:prstGeom>
          <a:solidFill>
            <a:srgbClr val="1E293B">
              <a:alpha val="55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" y="4059936"/>
            <a:ext cx="621792" cy="62179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59536" y="4800600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Enterprise software vendors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59536" y="5230368"/>
            <a:ext cx="2855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Built for large finance teams, priced and scoped out of reach for most businesses.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4373880" y="3749040"/>
            <a:ext cx="3441192" cy="2148840"/>
          </a:xfrm>
          <a:prstGeom prst="roundRect">
            <a:avLst>
              <a:gd name="adj" fmla="val 4255"/>
            </a:avLst>
          </a:prstGeom>
          <a:solidFill>
            <a:srgbClr val="1E293B">
              <a:alpha val="55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6488" y="4059936"/>
            <a:ext cx="621792" cy="62179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4666488" y="4800600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Consulting firms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4666488" y="5230368"/>
            <a:ext cx="2855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Bill by the hour and leave. No system stays behind once the engagement ends.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8180832" y="3749040"/>
            <a:ext cx="3441192" cy="2148840"/>
          </a:xfrm>
          <a:prstGeom prst="roundRect">
            <a:avLst>
              <a:gd name="adj" fmla="val 4255"/>
            </a:avLst>
          </a:prstGeom>
          <a:solidFill>
            <a:srgbClr val="1E293B">
              <a:alpha val="55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3440" y="4059936"/>
            <a:ext cx="621792" cy="62179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473440" y="4800600"/>
            <a:ext cx="2855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Fixed menu SaaS tools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8473440" y="5230368"/>
            <a:ext cx="28559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Ship one shape of product and ask every business to bend around it.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2436876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1051560" y="1691640"/>
            <a:ext cx="1008583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We find out what is actually broken in your accounting workflow, then we build the system that fixes it, </a:t>
            </a:r>
            <a:pPr algn="ctr" indent="0" marL="0">
              <a:lnSpc>
                <a:spcPct val="108000"/>
              </a:lnSpc>
              <a:buNone/>
            </a:pPr>
            <a:r>
              <a:rPr lang="en-US" sz="3200" b="1" dirty="0">
                <a:solidFill>
                  <a:srgbClr val="60A5F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inside the QuickBooks you already run.</a:t>
            </a:r>
            <a:endParaRPr lang="en-US" sz="3200" dirty="0"/>
          </a:p>
        </p:txBody>
      </p:sp>
      <p:sp>
        <p:nvSpPr>
          <p:cNvPr id="8" name="Shape 4"/>
          <p:cNvSpPr/>
          <p:nvPr/>
        </p:nvSpPr>
        <p:spPr>
          <a:xfrm>
            <a:off x="566928" y="4160520"/>
            <a:ext cx="3410712" cy="1783080"/>
          </a:xfrm>
          <a:prstGeom prst="roundRect">
            <a:avLst>
              <a:gd name="adj" fmla="val 51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1388" y="4416552"/>
            <a:ext cx="621792" cy="62179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49808" y="5120640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fixed product</a:t>
            </a:r>
            <a:endParaRPr lang="en-US" sz="1450" dirty="0"/>
          </a:p>
        </p:txBody>
      </p:sp>
      <p:sp>
        <p:nvSpPr>
          <p:cNvPr id="11" name="Text 6"/>
          <p:cNvSpPr txBox="1"/>
          <p:nvPr/>
        </p:nvSpPr>
        <p:spPr>
          <a:xfrm>
            <a:off x="786384" y="545896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module list. Every engagement starts from your actual workflow.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4389120" y="4160520"/>
            <a:ext cx="3410712" cy="1783080"/>
          </a:xfrm>
          <a:prstGeom prst="roundRect">
            <a:avLst>
              <a:gd name="adj" fmla="val 51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3580" y="4416552"/>
            <a:ext cx="621792" cy="62179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572000" y="5120640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Discovery first, every time</a:t>
            </a:r>
            <a:endParaRPr lang="en-US" sz="1450" dirty="0"/>
          </a:p>
        </p:txBody>
      </p:sp>
      <p:sp>
        <p:nvSpPr>
          <p:cNvPr id="15" name="Text 9"/>
          <p:cNvSpPr txBox="1"/>
          <p:nvPr/>
        </p:nvSpPr>
        <p:spPr>
          <a:xfrm>
            <a:off x="4608576" y="545896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We diagnose the real bottleneck through direct conversation.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8211312" y="4160520"/>
            <a:ext cx="3410712" cy="1783080"/>
          </a:xfrm>
          <a:prstGeom prst="roundRect">
            <a:avLst>
              <a:gd name="adj" fmla="val 51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5772" y="4416552"/>
            <a:ext cx="621792" cy="62179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394192" y="5120640"/>
            <a:ext cx="3044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Trust is structural</a:t>
            </a:r>
            <a:endParaRPr lang="en-US" sz="1450" dirty="0"/>
          </a:p>
        </p:txBody>
      </p:sp>
      <p:sp>
        <p:nvSpPr>
          <p:cNvPr id="19" name="Text 12"/>
          <p:cNvSpPr txBox="1"/>
          <p:nvPr/>
        </p:nvSpPr>
        <p:spPr>
          <a:xfrm>
            <a:off x="8430768" y="545896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We never take write access to your QuickBooks.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1280160" y="6089904"/>
            <a:ext cx="9628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Every journal entry, reconciliation, and adjustment is prepared for your review and manual posting. Trust is built into how we work, not promised.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Discovery first. Handoff, never takeover.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987552" y="3209544"/>
            <a:ext cx="10213848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788920"/>
            <a:ext cx="841248" cy="8412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66928" y="278892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6"/>
          <p:cNvSpPr txBox="1"/>
          <p:nvPr/>
        </p:nvSpPr>
        <p:spPr>
          <a:xfrm>
            <a:off x="566928" y="3758184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Discovery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566928" y="4306824"/>
            <a:ext cx="1975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Direct conversation about how the work runs today.</a:t>
            </a:r>
            <a:endParaRPr lang="en-US" sz="11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0390" y="2788920"/>
            <a:ext cx="841248" cy="8412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120390" y="278892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600" dirty="0"/>
          </a:p>
        </p:txBody>
      </p:sp>
      <p:sp>
        <p:nvSpPr>
          <p:cNvPr id="15" name="Text 9"/>
          <p:cNvSpPr txBox="1"/>
          <p:nvPr/>
        </p:nvSpPr>
        <p:spPr>
          <a:xfrm>
            <a:off x="2617470" y="3758184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Diagnosis</a:t>
            </a:r>
            <a:endParaRPr 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2553462" y="4306824"/>
            <a:ext cx="1975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Map the real bottleneck, not the assumed one.</a:t>
            </a:r>
            <a:endParaRPr lang="en-US" sz="11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73852" y="2788920"/>
            <a:ext cx="841248" cy="84124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5673852" y="278892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Text 12"/>
          <p:cNvSpPr txBox="1"/>
          <p:nvPr/>
        </p:nvSpPr>
        <p:spPr>
          <a:xfrm>
            <a:off x="5170932" y="3758184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Custom Scope</a:t>
            </a:r>
            <a:endParaRPr lang="en-US" sz="1350" dirty="0"/>
          </a:p>
        </p:txBody>
      </p:sp>
      <p:sp>
        <p:nvSpPr>
          <p:cNvPr id="20" name="Text 13"/>
          <p:cNvSpPr txBox="1"/>
          <p:nvPr/>
        </p:nvSpPr>
        <p:spPr>
          <a:xfrm>
            <a:off x="5106924" y="4306824"/>
            <a:ext cx="1975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build scoped to exactly what we found.</a:t>
            </a:r>
            <a:endParaRPr lang="en-US" sz="1100" dirty="0"/>
          </a:p>
        </p:txBody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7314" y="2788920"/>
            <a:ext cx="841248" cy="84124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227314" y="278892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600" dirty="0"/>
          </a:p>
        </p:txBody>
      </p:sp>
      <p:sp>
        <p:nvSpPr>
          <p:cNvPr id="23" name="Text 15"/>
          <p:cNvSpPr txBox="1"/>
          <p:nvPr/>
        </p:nvSpPr>
        <p:spPr>
          <a:xfrm>
            <a:off x="7724394" y="3758184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Build &amp; Shadow Test</a:t>
            </a:r>
            <a:endParaRPr lang="en-US" sz="1350" dirty="0"/>
          </a:p>
        </p:txBody>
      </p:sp>
      <p:sp>
        <p:nvSpPr>
          <p:cNvPr id="24" name="Text 16"/>
          <p:cNvSpPr txBox="1"/>
          <p:nvPr/>
        </p:nvSpPr>
        <p:spPr>
          <a:xfrm>
            <a:off x="7660386" y="4306824"/>
            <a:ext cx="1975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Runs in parallel with your books before going live.</a:t>
            </a:r>
            <a:endParaRPr lang="en-US" sz="1100" dirty="0"/>
          </a:p>
        </p:txBody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80776" y="2788920"/>
            <a:ext cx="841248" cy="841248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10780776" y="2788920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600" dirty="0"/>
          </a:p>
        </p:txBody>
      </p:sp>
      <p:sp>
        <p:nvSpPr>
          <p:cNvPr id="27" name="Text 18"/>
          <p:cNvSpPr txBox="1"/>
          <p:nvPr/>
        </p:nvSpPr>
        <p:spPr>
          <a:xfrm>
            <a:off x="9774936" y="3758184"/>
            <a:ext cx="18470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Handoff</a:t>
            </a:r>
            <a:endParaRPr lang="en-US" sz="1350" dirty="0"/>
          </a:p>
        </p:txBody>
      </p:sp>
      <p:sp>
        <p:nvSpPr>
          <p:cNvPr id="28" name="Text 19"/>
          <p:cNvSpPr txBox="1"/>
          <p:nvPr/>
        </p:nvSpPr>
        <p:spPr>
          <a:xfrm>
            <a:off x="9646920" y="4306824"/>
            <a:ext cx="19751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You keep full control. Never a takeover.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566928" y="5669280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841248" y="566928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through line:  </a:t>
            </a:r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we do not arrive with a product to install. We arrive with questions, find the actual constraint, and build only what fixes it.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PROOF IT WORKS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80160"/>
            <a:ext cx="110550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Kaptain Clean</a:t>
            </a:r>
            <a:pPr algn="l" indent="0" marL="0">
              <a:buNone/>
            </a:pPr>
            <a:r>
              <a:rPr lang="en-US" sz="15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commercial cleaning, our completed engagement cleared for external use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566928" y="2148840"/>
            <a:ext cx="3441192" cy="2331720"/>
          </a:xfrm>
          <a:prstGeom prst="roundRect">
            <a:avLst>
              <a:gd name="adj" fmla="val 3922"/>
            </a:avLst>
          </a:prstGeom>
          <a:solidFill>
            <a:srgbClr val="1E293B">
              <a:alpha val="65000"/>
            </a:srgbClr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04088" y="2532888"/>
            <a:ext cx="3166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60A5F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52 → 33</a:t>
            </a:r>
            <a:endParaRPr lang="en-US" sz="5400" dirty="0"/>
          </a:p>
        </p:txBody>
      </p:sp>
      <p:sp>
        <p:nvSpPr>
          <p:cNvPr id="10" name="Text 6"/>
          <p:cNvSpPr txBox="1"/>
          <p:nvPr/>
        </p:nvSpPr>
        <p:spPr>
          <a:xfrm>
            <a:off x="704088" y="3566160"/>
            <a:ext cx="3166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DAYS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41248" y="39319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Days sales outstanding, down from 52 to 33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73880" y="2148840"/>
            <a:ext cx="3441192" cy="2331720"/>
          </a:xfrm>
          <a:prstGeom prst="roundRect">
            <a:avLst>
              <a:gd name="adj" fmla="val 3922"/>
            </a:avLst>
          </a:prstGeom>
          <a:solidFill>
            <a:srgbClr val="1E293B">
              <a:alpha val="65000"/>
            </a:srgbClr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4511040" y="2532888"/>
            <a:ext cx="3166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18CF8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84%</a:t>
            </a:r>
            <a:endParaRPr lang="en-US" sz="5400" dirty="0"/>
          </a:p>
        </p:txBody>
      </p:sp>
      <p:sp>
        <p:nvSpPr>
          <p:cNvPr id="14" name="Text 10"/>
          <p:cNvSpPr txBox="1"/>
          <p:nvPr/>
        </p:nvSpPr>
        <p:spPr>
          <a:xfrm>
            <a:off x="4511040" y="3566160"/>
            <a:ext cx="3166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REDUCTION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648200" y="39319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Less time spent processing invoices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80832" y="2148840"/>
            <a:ext cx="3441192" cy="2331720"/>
          </a:xfrm>
          <a:prstGeom prst="roundRect">
            <a:avLst>
              <a:gd name="adj" fmla="val 3922"/>
            </a:avLst>
          </a:prstGeom>
          <a:solidFill>
            <a:srgbClr val="1E293B">
              <a:alpha val="65000"/>
            </a:srgbClr>
          </a:solidFill>
          <a:ln w="1270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8317992" y="2532888"/>
            <a:ext cx="3166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4ADE8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$65K+</a:t>
            </a:r>
            <a:endParaRPr lang="en-US" sz="5400" dirty="0"/>
          </a:p>
        </p:txBody>
      </p:sp>
      <p:sp>
        <p:nvSpPr>
          <p:cNvPr id="18" name="Text 14"/>
          <p:cNvSpPr txBox="1"/>
          <p:nvPr/>
        </p:nvSpPr>
        <p:spPr>
          <a:xfrm>
            <a:off x="8317992" y="3566160"/>
            <a:ext cx="3166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FREED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8455152" y="3931920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Working capital freed up for the business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66928" y="4983480"/>
            <a:ext cx="11055096" cy="658368"/>
          </a:xfrm>
          <a:prstGeom prst="roundRect">
            <a:avLst>
              <a:gd name="adj" fmla="val 8333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694944" y="5102352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FBBF24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694944" y="510235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B2E0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DRAFT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1517904" y="5056632"/>
            <a:ext cx="99578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BF24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CONFIRM: number of firms currently in active discovery or pilot conversations, if Jonathan wants to show pipeline breadth alongside this completed case study.</a:t>
            </a:r>
            <a:endParaRPr lang="en-US" sz="1150" dirty="0"/>
          </a:p>
        </p:txBody>
      </p:sp>
      <p:sp>
        <p:nvSpPr>
          <p:cNvPr id="24" name="Text 20"/>
          <p:cNvSpPr txBox="1"/>
          <p:nvPr/>
        </p:nvSpPr>
        <p:spPr>
          <a:xfrm>
            <a:off x="566928" y="580644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completed engagement, real numbers, a business owner who kept full control of the books throughout.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Recurring revenue, plus a build scoped to the fix.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66928" y="2148840"/>
            <a:ext cx="5298948" cy="2194560"/>
          </a:xfrm>
          <a:prstGeom prst="roundRect">
            <a:avLst>
              <a:gd name="adj" fmla="val 4167"/>
            </a:avLst>
          </a:prstGeom>
          <a:solidFill>
            <a:srgbClr val="1E293B">
              <a:alpha val="55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2478024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00784" y="2532888"/>
            <a:ext cx="39273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Monthly recurring revenue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77824" y="3291840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An ongoing subscription for the system we build and support. Not percentage of recovery, not usage only.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6323076" y="2148840"/>
            <a:ext cx="5298948" cy="2194560"/>
          </a:xfrm>
          <a:prstGeom prst="roundRect">
            <a:avLst>
              <a:gd name="adj" fmla="val 4167"/>
            </a:avLst>
          </a:prstGeom>
          <a:solidFill>
            <a:srgbClr val="1E293B">
              <a:alpha val="55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972" y="2478024"/>
            <a:ext cx="640080" cy="6400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456932" y="2532888"/>
            <a:ext cx="39273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time implementation fee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6633972" y="3291840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Scoped to the specific build, quoted from discovery. Close workbooks, consolidation layers, reconciliation systems, each priced on its own.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66928" y="4709160"/>
            <a:ext cx="11055096" cy="658368"/>
          </a:xfrm>
          <a:prstGeom prst="roundRect">
            <a:avLst>
              <a:gd name="adj" fmla="val 8333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/>
            </a:solidFill>
            <a:prstDash val="dash"/>
          </a:ln>
        </p:spPr>
      </p:sp>
      <p:sp>
        <p:nvSpPr>
          <p:cNvPr id="17" name="Shape 11"/>
          <p:cNvSpPr/>
          <p:nvPr/>
        </p:nvSpPr>
        <p:spPr>
          <a:xfrm>
            <a:off x="694944" y="4828032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FBBF24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694944" y="482803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B2E0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DRAFT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1517904" y="4782312"/>
            <a:ext cx="99578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BF24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CONFIRM: current published tier structure and price points before this goes on a slide reviewers will scrutinize.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566928" y="5715000"/>
            <a:ext cx="110550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Why it holds:  </a:t>
            </a:r>
            <a:pPr algn="l"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revenue is tied to a system that stays in place, not to a one time project that walks out the door.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MARKET AND IDEAL CUSTOMER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Two buyers. One is where we start.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66928" y="2011680"/>
            <a:ext cx="5298948" cy="4160520"/>
          </a:xfrm>
          <a:prstGeom prst="roundRect">
            <a:avLst>
              <a:gd name="adj" fmla="val 2198"/>
            </a:avLst>
          </a:prstGeom>
          <a:solidFill>
            <a:srgbClr val="1E293B">
              <a:alpha val="52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2322576"/>
            <a:ext cx="603504" cy="60350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27632" y="2322576"/>
            <a:ext cx="40187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Buyer Type 1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1627632" y="257860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Owner operated service business</a:t>
            </a:r>
            <a:endParaRPr lang="en-US" sz="1650" dirty="0"/>
          </a:p>
        </p:txBody>
      </p:sp>
      <p:sp>
        <p:nvSpPr>
          <p:cNvPr id="12" name="Text 7"/>
          <p:cNvSpPr txBox="1"/>
          <p:nvPr/>
        </p:nvSpPr>
        <p:spPr>
          <a:xfrm>
            <a:off x="932688" y="32461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$750K to $10M in revenue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QuickBooks Online or Desktop</a:t>
            </a:r>
            <a:endParaRPr lang="en-US" sz="12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No dedicated accounting staff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932688" y="4297680"/>
            <a:ext cx="45674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VERTICALS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932688" y="4572000"/>
            <a:ext cx="45674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Commercial cleaning, landscaping, HVAC and trades, staffing, marketing agencies, IT managed service providers, commercial property maintenance.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323076" y="2011680"/>
            <a:ext cx="5298948" cy="4160520"/>
          </a:xfrm>
          <a:prstGeom prst="roundRect">
            <a:avLst>
              <a:gd name="adj" fmla="val 2198"/>
            </a:avLst>
          </a:prstGeom>
          <a:solidFill>
            <a:srgbClr val="1E293B">
              <a:alpha val="72000"/>
            </a:srgbClr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747504" y="230428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747504" y="2304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CURRENT PRIORITY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972" y="2322576"/>
            <a:ext cx="603504" cy="60350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383780" y="2322576"/>
            <a:ext cx="25557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Buyer Type 2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7383780" y="257860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Fractional CFO or bookkeeper</a:t>
            </a:r>
            <a:endParaRPr lang="en-US" sz="1650" dirty="0"/>
          </a:p>
        </p:txBody>
      </p:sp>
      <p:sp>
        <p:nvSpPr>
          <p:cNvPr id="21" name="Text 15"/>
          <p:cNvSpPr txBox="1"/>
          <p:nvPr/>
        </p:nvSpPr>
        <p:spPr>
          <a:xfrm>
            <a:off x="6688836" y="3246120"/>
            <a:ext cx="45674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Runs their own practice, managing books for one or more QuickBooks clients.</a:t>
            </a:r>
            <a:endParaRPr 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6688836" y="4160520"/>
            <a:ext cx="45674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WHY IT IS THE HIGHEST LEVERAGE RELATIONSHIP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6688836" y="4462272"/>
            <a:ext cx="45674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practice is the buyer and owns the system</a:t>
            </a:r>
            <a:endParaRPr lang="en-US" sz="125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Each practice becomes a referral source</a:t>
            </a:r>
            <a:endParaRPr lang="en-US" sz="1250" dirty="0"/>
          </a:p>
          <a:p>
            <a:pPr algn="l"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relationship can produce many client engagements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GO TO MARKET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Relationship based, not broadcast.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66928" y="2148840"/>
            <a:ext cx="11055096" cy="896112"/>
          </a:xfrm>
          <a:prstGeom prst="roundRect">
            <a:avLst>
              <a:gd name="adj" fmla="val 10204"/>
            </a:avLst>
          </a:prstGeom>
          <a:solidFill>
            <a:srgbClr val="1E293B">
              <a:alpha val="54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331720"/>
            <a:ext cx="530352" cy="530352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72768" y="225856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Warm nurture with the practices themselves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1572768" y="2606040"/>
            <a:ext cx="9683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Fractional CFOs, bookkeepers, and QuickBooks ProAdvisors in Charlotte first.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10204704" y="2423160"/>
            <a:ext cx="1143000" cy="329184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10204704" y="24231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PRIORITY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566928" y="3172968"/>
            <a:ext cx="11055096" cy="896112"/>
          </a:xfrm>
          <a:prstGeom prst="roundRect">
            <a:avLst>
              <a:gd name="adj" fmla="val 10204"/>
            </a:avLst>
          </a:prstGeom>
          <a:solidFill>
            <a:srgbClr val="1E293B">
              <a:alpha val="54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355848"/>
            <a:ext cx="530352" cy="53035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572768" y="328269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 person community events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1572768" y="3630168"/>
            <a:ext cx="9683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Prioritized over cold outreach and email lists.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566928" y="4197096"/>
            <a:ext cx="11055096" cy="896112"/>
          </a:xfrm>
          <a:prstGeom prst="roundRect">
            <a:avLst>
              <a:gd name="adj" fmla="val 10204"/>
            </a:avLst>
          </a:prstGeom>
          <a:solidFill>
            <a:srgbClr val="1E293B">
              <a:alpha val="54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379976"/>
            <a:ext cx="530352" cy="53035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572768" y="430682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Channel partnerships already in motion</a:t>
            </a:r>
            <a:endParaRPr lang="en-US" sz="1500" dirty="0"/>
          </a:p>
        </p:txBody>
      </p:sp>
      <p:sp>
        <p:nvSpPr>
          <p:cNvPr id="21" name="Text 14"/>
          <p:cNvSpPr txBox="1"/>
          <p:nvPr/>
        </p:nvSpPr>
        <p:spPr>
          <a:xfrm>
            <a:off x="1572768" y="4654296"/>
            <a:ext cx="9683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 fractional CFO firm relationship, plus ProAdvisor networks across Charlotte and Miami.</a:t>
            </a:r>
            <a:endParaRPr lang="en-US" sz="1250" dirty="0"/>
          </a:p>
        </p:txBody>
      </p:sp>
      <p:sp>
        <p:nvSpPr>
          <p:cNvPr id="22" name="Shape 15"/>
          <p:cNvSpPr/>
          <p:nvPr/>
        </p:nvSpPr>
        <p:spPr>
          <a:xfrm>
            <a:off x="566928" y="5221224"/>
            <a:ext cx="11055096" cy="896112"/>
          </a:xfrm>
          <a:prstGeom prst="roundRect">
            <a:avLst>
              <a:gd name="adj" fmla="val 10204"/>
            </a:avLst>
          </a:prstGeom>
          <a:solidFill>
            <a:srgbClr val="1E293B">
              <a:alpha val="54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5404104"/>
            <a:ext cx="530352" cy="530352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572768" y="533095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Direct outreach as a secondary motion</a:t>
            </a:r>
            <a:endParaRPr lang="en-US" sz="1500" dirty="0"/>
          </a:p>
        </p:txBody>
      </p:sp>
      <p:sp>
        <p:nvSpPr>
          <p:cNvPr id="25" name="Text 17"/>
          <p:cNvSpPr txBox="1"/>
          <p:nvPr/>
        </p:nvSpPr>
        <p:spPr>
          <a:xfrm>
            <a:off x="1572768" y="5678424"/>
            <a:ext cx="9683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Owner operated businesses in the target verticals.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COMPETITIVE LANDSCAPE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We work one layer below the tools reviewers know.</a:t>
            </a:r>
            <a:endParaRPr lang="en-US" sz="2500" dirty="0"/>
          </a:p>
        </p:txBody>
      </p:sp>
      <p:sp>
        <p:nvSpPr>
          <p:cNvPr id="8" name="Shape 4"/>
          <p:cNvSpPr/>
          <p:nvPr/>
        </p:nvSpPr>
        <p:spPr>
          <a:xfrm>
            <a:off x="566928" y="2103120"/>
            <a:ext cx="11055096" cy="603504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49808" y="2103120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Do nothing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4224528" y="2103120"/>
            <a:ext cx="7214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bottleneck stays. It compounds as the business grows.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49808" y="2706624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Hire staff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4224528" y="2706624"/>
            <a:ext cx="7214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Slow and expensive, and it does not fix the underlying workflow.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66928" y="3310128"/>
            <a:ext cx="11055096" cy="603504"/>
          </a:xfrm>
          <a:prstGeom prst="rect">
            <a:avLst/>
          </a:prstGeom>
          <a:solidFill>
            <a:srgbClr val="1E293B">
              <a:alpha val="40000"/>
            </a:srgbClr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49808" y="3310128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Generic off the shelf tools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4224528" y="3310128"/>
            <a:ext cx="7214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One fixed shape. The business has to bend around the software.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749808" y="3913632"/>
            <a:ext cx="3383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Reporting layer tools, e.g. Fathom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4224528" y="3913632"/>
            <a:ext cx="721461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Sit on top of already clean data and display it well.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66928" y="4626864"/>
            <a:ext cx="11055096" cy="713232"/>
          </a:xfrm>
          <a:prstGeom prst="roundRect">
            <a:avLst>
              <a:gd name="adj" fmla="val 12821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19" name="Image 2" descr="lunarlogic-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4782312"/>
            <a:ext cx="402336" cy="40233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316736" y="4626864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</a:t>
            </a:r>
            <a:endParaRPr lang="en-US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4224528" y="4626864"/>
            <a:ext cx="721461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production layer that generates the entries and calculations those tools display.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566928" y="5742432"/>
            <a:ext cx="11055096" cy="749808"/>
          </a:xfrm>
          <a:prstGeom prst="roundRect">
            <a:avLst>
              <a:gd name="adj" fmla="val 1219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41248" y="5742432"/>
            <a:ext cx="105064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The distinction that matters:  </a:t>
            </a:r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reporting tools display clean data. We are the layer that produces it. We are not a competitor to Fathom, we operate one level down.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TEAM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 founder close to the buyer, an advisor who has built this before.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566928" y="2011680"/>
            <a:ext cx="5298948" cy="3063240"/>
          </a:xfrm>
          <a:prstGeom prst="roundRect">
            <a:avLst>
              <a:gd name="adj" fmla="val 2985"/>
            </a:avLst>
          </a:prstGeom>
          <a:solidFill>
            <a:srgbClr val="1E293B">
              <a:alpha val="55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2322576"/>
            <a:ext cx="658368" cy="6583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00784" y="2340864"/>
            <a:ext cx="39273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Jonathan Rodriguez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1700784" y="2688336"/>
            <a:ext cx="3927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Founder &amp; CEO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877824" y="3291840"/>
            <a:ext cx="4677156" cy="1508760"/>
          </a:xfrm>
          <a:prstGeom prst="roundRect">
            <a:avLst>
              <a:gd name="adj" fmla="val 3636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/>
            </a:solidFill>
            <a:prstDash val="dash"/>
          </a:ln>
        </p:spPr>
      </p:sp>
      <p:sp>
        <p:nvSpPr>
          <p:cNvPr id="13" name="Shape 8"/>
          <p:cNvSpPr/>
          <p:nvPr/>
        </p:nvSpPr>
        <p:spPr>
          <a:xfrm>
            <a:off x="1005840" y="3410712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FBBF24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1005840" y="341071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B2E0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DRAFT</a:t>
            </a:r>
            <a:endParaRPr lang="en-US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1828800" y="3364992"/>
            <a:ext cx="357987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BF24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CONFIRM: prior consulting firm name and years, plus any direct accounting or finance credentials or technical background, before finalizing this slide.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323076" y="2011680"/>
            <a:ext cx="5298948" cy="3063240"/>
          </a:xfrm>
          <a:prstGeom prst="roundRect">
            <a:avLst>
              <a:gd name="adj" fmla="val 2985"/>
            </a:avLst>
          </a:prstGeom>
          <a:solidFill>
            <a:srgbClr val="1E293B">
              <a:alpha val="55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3972" y="2322576"/>
            <a:ext cx="658368" cy="65836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456932" y="2340864"/>
            <a:ext cx="39273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Chris Elmore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7456932" y="2688336"/>
            <a:ext cx="39273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Advisor, pitch and go to market</a:t>
            </a:r>
            <a:endParaRPr lang="en-US" sz="1300" dirty="0"/>
          </a:p>
        </p:txBody>
      </p:sp>
      <p:sp>
        <p:nvSpPr>
          <p:cNvPr id="20" name="Text 14"/>
          <p:cNvSpPr txBox="1"/>
          <p:nvPr/>
        </p:nvSpPr>
        <p:spPr>
          <a:xfrm>
            <a:off x="6633972" y="3246120"/>
            <a:ext cx="467715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First employee at AvidXchange in 2000, through its October 2021 NASDAQ IPO (AVDX), now one of the largest accounts payable automation platforms in the country. </a:t>
            </a:r>
            <a:pPr algn="l"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Also adjunct professor of entrepreneurship at UNC Charlotte and Queens University of Charlotte.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566928" y="5257800"/>
            <a:ext cx="11055096" cy="658368"/>
          </a:xfrm>
          <a:prstGeom prst="roundRect">
            <a:avLst>
              <a:gd name="adj" fmla="val 8333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/>
            </a:solidFill>
            <a:prstDash val="dash"/>
          </a:ln>
        </p:spPr>
      </p:sp>
      <p:sp>
        <p:nvSpPr>
          <p:cNvPr id="22" name="Shape 16"/>
          <p:cNvSpPr/>
          <p:nvPr/>
        </p:nvSpPr>
        <p:spPr>
          <a:xfrm>
            <a:off x="694944" y="5376672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FBBF24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694944" y="5376672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B2E0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DRAFT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1517904" y="5330952"/>
            <a:ext cx="995781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BF24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CONFIRM: current headcount framing, for example solo founder plus one contract developer, Tabitha Oke, engaged on a milestone basis.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TRACTION AND NEAR TERM TARGETS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What we are driving to this quarter, and where it goes.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66928" y="19385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THIS QUARTER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66928" y="2286000"/>
            <a:ext cx="3441192" cy="1737360"/>
          </a:xfrm>
          <a:prstGeom prst="roundRect">
            <a:avLst>
              <a:gd name="adj" fmla="val 5263"/>
            </a:avLst>
          </a:prstGeom>
          <a:solidFill>
            <a:srgbClr val="1E293B">
              <a:alpha val="62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542032"/>
            <a:ext cx="512064" cy="51206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35608" y="2468880"/>
            <a:ext cx="2435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0A5F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$3K to $5K</a:t>
            </a:r>
            <a:endParaRPr lang="en-US" sz="2800" dirty="0"/>
          </a:p>
        </p:txBody>
      </p:sp>
      <p:sp>
        <p:nvSpPr>
          <p:cNvPr id="12" name="Text 7"/>
          <p:cNvSpPr txBox="1"/>
          <p:nvPr/>
        </p:nvSpPr>
        <p:spPr>
          <a:xfrm>
            <a:off x="841248" y="324612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in monthly recurring revenue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373880" y="2286000"/>
            <a:ext cx="3441192" cy="1737360"/>
          </a:xfrm>
          <a:prstGeom prst="roundRect">
            <a:avLst>
              <a:gd name="adj" fmla="val 5263"/>
            </a:avLst>
          </a:prstGeom>
          <a:solidFill>
            <a:srgbClr val="1E293B">
              <a:alpha val="62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2542032"/>
            <a:ext cx="512064" cy="5120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242560" y="2468880"/>
            <a:ext cx="2435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0A5F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2+</a:t>
            </a:r>
            <a:endParaRPr lang="en-US" sz="2800" dirty="0"/>
          </a:p>
        </p:txBody>
      </p:sp>
      <p:sp>
        <p:nvSpPr>
          <p:cNvPr id="16" name="Text 10"/>
          <p:cNvSpPr txBox="1"/>
          <p:nvPr/>
        </p:nvSpPr>
        <p:spPr>
          <a:xfrm>
            <a:off x="4648200" y="324612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active referral producing channel partners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8180832" y="2286000"/>
            <a:ext cx="3441192" cy="1737360"/>
          </a:xfrm>
          <a:prstGeom prst="roundRect">
            <a:avLst>
              <a:gd name="adj" fmla="val 5263"/>
            </a:avLst>
          </a:prstGeom>
          <a:solidFill>
            <a:srgbClr val="1E293B">
              <a:alpha val="62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5152" y="2542032"/>
            <a:ext cx="512064" cy="51206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49512" y="2468880"/>
            <a:ext cx="2435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0A5F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800" dirty="0"/>
          </a:p>
        </p:txBody>
      </p:sp>
      <p:sp>
        <p:nvSpPr>
          <p:cNvPr id="20" name="Text 13"/>
          <p:cNvSpPr txBox="1"/>
          <p:nvPr/>
        </p:nvSpPr>
        <p:spPr>
          <a:xfrm>
            <a:off x="8455152" y="3246120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second published case study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566928" y="4279392"/>
            <a:ext cx="11055096" cy="1417320"/>
          </a:xfrm>
          <a:prstGeom prst="roundRect">
            <a:avLst>
              <a:gd name="adj" fmla="val 6452"/>
            </a:avLst>
          </a:prstGeom>
          <a:solidFill>
            <a:srgbClr val="1E293B">
              <a:alpha val="54000"/>
            </a:srgbClr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859536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THREE YEAR DIRECTION</a:t>
            </a:r>
            <a:endParaRPr lang="en-US" sz="1100" dirty="0"/>
          </a:p>
        </p:txBody>
      </p:sp>
      <p:sp>
        <p:nvSpPr>
          <p:cNvPr id="23" name="Text 16"/>
          <p:cNvSpPr txBox="1"/>
          <p:nvPr/>
        </p:nvSpPr>
        <p:spPr>
          <a:xfrm>
            <a:off x="859536" y="4736592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Scale primarily through the fractional CFO and bookkeeper channel, since each practice relationship can produce multiple direct client engagements. Expand geographically beyond Charlotte as that model proves out.</a:t>
            </a:r>
            <a:endParaRPr lang="en-US" sz="1400" dirty="0"/>
          </a:p>
        </p:txBody>
      </p:sp>
      <p:sp>
        <p:nvSpPr>
          <p:cNvPr id="24" name="Shape 17"/>
          <p:cNvSpPr/>
          <p:nvPr/>
        </p:nvSpPr>
        <p:spPr>
          <a:xfrm>
            <a:off x="566928" y="5870448"/>
            <a:ext cx="11055096" cy="621792"/>
          </a:xfrm>
          <a:prstGeom prst="roundRect">
            <a:avLst>
              <a:gd name="adj" fmla="val 8824"/>
            </a:avLst>
          </a:prstGeom>
          <a:solidFill>
            <a:srgbClr val="FBBF24">
              <a:alpha val="10000"/>
            </a:srgbClr>
          </a:solidFill>
          <a:ln w="12700">
            <a:solidFill>
              <a:srgbClr val="FBBF24"/>
            </a:solidFill>
            <a:prstDash val="dash"/>
          </a:ln>
        </p:spPr>
      </p:sp>
      <p:sp>
        <p:nvSpPr>
          <p:cNvPr id="25" name="Shape 18"/>
          <p:cNvSpPr/>
          <p:nvPr/>
        </p:nvSpPr>
        <p:spPr>
          <a:xfrm>
            <a:off x="694944" y="598932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FBBF24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694944" y="598932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3B2E00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DRAFT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1517904" y="5943600"/>
            <a:ext cx="99578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FBBF24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CONFIRM: specific three year revenue or market targets, if Jonathan wants firmer numbers on this slide.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ck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65760"/>
            <a:ext cx="1481328" cy="2743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6692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</a:t>
            </a:r>
            <a:endParaRPr lang="en-US" sz="900" dirty="0"/>
          </a:p>
        </p:txBody>
      </p:sp>
      <p:sp>
        <p:nvSpPr>
          <p:cNvPr id="5" name="Text 1"/>
          <p:cNvSpPr txBox="1"/>
          <p:nvPr/>
        </p:nvSpPr>
        <p:spPr>
          <a:xfrm>
            <a:off x="11183112" y="643737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566928" y="9326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WHAT WE WANT FROM THE ACCELERATOR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566928" y="1243584"/>
            <a:ext cx="11055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Three asks, stated plainly.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66928" y="2103120"/>
            <a:ext cx="11055096" cy="1170432"/>
          </a:xfrm>
          <a:prstGeom prst="roundRect">
            <a:avLst>
              <a:gd name="adj" fmla="val 7813"/>
            </a:avLst>
          </a:prstGeom>
          <a:solidFill>
            <a:srgbClr val="1E293B">
              <a:alpha val="5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2386584"/>
            <a:ext cx="603504" cy="60350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41248" y="23865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1664208" y="2322576"/>
            <a:ext cx="9683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Access to the network</a:t>
            </a:r>
            <a:endParaRPr lang="en-US" sz="1650" dirty="0"/>
          </a:p>
        </p:txBody>
      </p:sp>
      <p:sp>
        <p:nvSpPr>
          <p:cNvPr id="12" name="Text 7"/>
          <p:cNvSpPr txBox="1"/>
          <p:nvPr/>
        </p:nvSpPr>
        <p:spPr>
          <a:xfrm>
            <a:off x="1664208" y="2706624"/>
            <a:ext cx="9683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Direct access to the AICPA and CPA.com network of practicing fractional CFOs, bookkeepers, and QuickBooks ProAdvisors. This is our core go to market channel.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66928" y="3474720"/>
            <a:ext cx="11055096" cy="1170432"/>
          </a:xfrm>
          <a:prstGeom prst="roundRect">
            <a:avLst>
              <a:gd name="adj" fmla="val 7813"/>
            </a:avLst>
          </a:prstGeom>
          <a:solidFill>
            <a:srgbClr val="1E293B">
              <a:alpha val="5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3758184"/>
            <a:ext cx="603504" cy="60350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41248" y="37581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0"/>
          <p:cNvSpPr txBox="1"/>
          <p:nvPr/>
        </p:nvSpPr>
        <p:spPr>
          <a:xfrm>
            <a:off x="1664208" y="3694176"/>
            <a:ext cx="9683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Pricing and packaging guidance</a:t>
            </a:r>
            <a:endParaRPr lang="en-US" sz="1650" dirty="0"/>
          </a:p>
        </p:txBody>
      </p:sp>
      <p:sp>
        <p:nvSpPr>
          <p:cNvPr id="17" name="Text 11"/>
          <p:cNvSpPr txBox="1"/>
          <p:nvPr/>
        </p:nvSpPr>
        <p:spPr>
          <a:xfrm>
            <a:off x="1664208" y="4078224"/>
            <a:ext cx="9683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Structured help pricing and packaging a custom build model without losing the discovery first positioning that makes it work.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66928" y="4846320"/>
            <a:ext cx="11055096" cy="1170432"/>
          </a:xfrm>
          <a:prstGeom prst="roundRect">
            <a:avLst>
              <a:gd name="adj" fmla="val 7813"/>
            </a:avLst>
          </a:prstGeom>
          <a:solidFill>
            <a:srgbClr val="1E293B">
              <a:alpha val="56000"/>
            </a:srgbClr>
          </a:solidFill>
          <a:ln w="12700">
            <a:solidFill>
              <a:srgbClr val="334155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" y="5129784"/>
            <a:ext cx="603504" cy="60350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841248" y="512978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1664208" y="5065776"/>
            <a:ext cx="9683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Credibility with the buyer</a:t>
            </a:r>
            <a:endParaRPr lang="en-US" sz="1650" dirty="0"/>
          </a:p>
        </p:txBody>
      </p:sp>
      <p:sp>
        <p:nvSpPr>
          <p:cNvPr id="22" name="Text 15"/>
          <p:cNvSpPr txBox="1"/>
          <p:nvPr/>
        </p:nvSpPr>
        <p:spPr>
          <a:xfrm>
            <a:off x="1664208" y="5449824"/>
            <a:ext cx="9683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94A3B8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Standing with a relationship driven buyer who needs to trust a small vendor with their practice's workflow.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lunarlogic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051560"/>
            <a:ext cx="914400" cy="9144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188720" y="2286000"/>
            <a:ext cx="981151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We find out what is actually broken in your accounting workflow, then we build the system that fixes it, </a:t>
            </a:r>
            <a:pPr algn="ctr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60A5F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inside the QuickBooks you already run.</a:t>
            </a:r>
            <a:endParaRPr lang="en-US" sz="2800" dirty="0"/>
          </a:p>
        </p:txBody>
      </p:sp>
      <p:sp>
        <p:nvSpPr>
          <p:cNvPr id="5" name="Shape 1"/>
          <p:cNvSpPr/>
          <p:nvPr/>
        </p:nvSpPr>
        <p:spPr>
          <a:xfrm>
            <a:off x="5088636" y="4160520"/>
            <a:ext cx="201168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pic>
        <p:nvPicPr>
          <p:cNvPr id="6" name="Image 2" descr="lunarlogic-locku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4480560"/>
            <a:ext cx="2560320" cy="47548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914400" y="5212080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jrodriguez@lunarlogic.ai</a:t>
            </a:r>
            <a:pPr algn="ctr" indent="0" marL="0">
              <a:buNone/>
            </a:pPr>
            <a:r>
              <a:rPr lang="en-US" sz="1500" b="1" dirty="0">
                <a:solidFill>
                  <a:srgbClr val="60A5FA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      lunarlogic.ai</a:t>
            </a:r>
            <a:endParaRPr lang="en-US" sz="1500" dirty="0"/>
          </a:p>
        </p:txBody>
      </p:sp>
      <p:sp>
        <p:nvSpPr>
          <p:cNvPr id="8" name="Text 3"/>
          <p:cNvSpPr txBox="1"/>
          <p:nvPr/>
        </p:nvSpPr>
        <p:spPr>
          <a:xfrm>
            <a:off x="914400" y="5596128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Nunito" pitchFamily="34" charset="0"/>
                <a:ea typeface="Nunito" pitchFamily="34" charset="-122"/>
                <a:cs typeface="Nunito" pitchFamily="34" charset="-120"/>
              </a:rPr>
              <a:t>LunarLogic Solutions LLC   ·   Charlotte, NC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2026-08-27T16:33:25Z</dcterms:created>
  <dcterms:modified xsi:type="dcterms:W3CDTF">2026-08-27T16:33:25Z</dcterms:modified>
</cp:coreProperties>
</file>